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1a3d1b72134caf" /><Relationship Type="http://schemas.openxmlformats.org/officeDocument/2006/relationships/extended-properties" Target="/docProps/app.xml" Id="Rcb1b25af11c840ba" /><Relationship Type="http://schemas.openxmlformats.org/officeDocument/2006/relationships/officeDocument" Target="/ppt/presentation.xml" Id="R5c032a3445d849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82950270ab44e3"/>
  </p:sldMasterIdLst>
  <p:notesMasterIdLst>
    <p:notesMasterId xmlns:r="http://schemas.openxmlformats.org/officeDocument/2006/relationships" r:id="R29a5f0a414ba42dd"/>
  </p:notesMasterIdLst>
  <p:sldIdLst>
    <p:sldId xmlns:r="http://schemas.openxmlformats.org/officeDocument/2006/relationships" id="256" r:id="Rb8f8772b56d649f5"/>
    <p:sldId xmlns:r="http://schemas.openxmlformats.org/officeDocument/2006/relationships" id="257" r:id="R235fdc20dfd845a4"/>
    <p:sldId xmlns:r="http://schemas.openxmlformats.org/officeDocument/2006/relationships" id="258" r:id="R4ccba2fc8bbd4d1d"/>
    <p:sldId xmlns:r="http://schemas.openxmlformats.org/officeDocument/2006/relationships" id="259" r:id="R3a63ec1204414249"/>
    <p:sldId xmlns:r="http://schemas.openxmlformats.org/officeDocument/2006/relationships" id="260" r:id="R3c6d4210aa614f96"/>
    <p:sldId xmlns:r="http://schemas.openxmlformats.org/officeDocument/2006/relationships" id="261" r:id="R39016ac0e82f44bb"/>
    <p:sldId xmlns:r="http://schemas.openxmlformats.org/officeDocument/2006/relationships" id="262" r:id="R54cd19c1e33f42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cf517a530347f3" /><Relationship Type="http://schemas.openxmlformats.org/officeDocument/2006/relationships/slideMaster" Target="/ppt/slideMasters/slideMaster1.xml" Id="Rf282950270ab44e3" /><Relationship Type="http://schemas.openxmlformats.org/officeDocument/2006/relationships/notesMaster" Target="/ppt/notesMasters/notesMaster1.xml" Id="R29a5f0a414ba42dd" /><Relationship Type="http://schemas.openxmlformats.org/officeDocument/2006/relationships/presProps" Target="/ppt/presProps.xml" Id="R3e0d5e0490af45f8" /><Relationship Type="http://schemas.openxmlformats.org/officeDocument/2006/relationships/tableStyles" Target="/ppt/tableStyles.xml" Id="R507bcf911dd14f91" /><Relationship Type="http://schemas.openxmlformats.org/officeDocument/2006/relationships/slide" Target="/ppt/slides/slide1.xml" Id="Rb8f8772b56d649f5" /><Relationship Type="http://schemas.openxmlformats.org/officeDocument/2006/relationships/slide" Target="/ppt/slides/slide2.xml" Id="R235fdc20dfd845a4" /><Relationship Type="http://schemas.openxmlformats.org/officeDocument/2006/relationships/slide" Target="/ppt/slides/slide3.xml" Id="R4ccba2fc8bbd4d1d" /><Relationship Type="http://schemas.openxmlformats.org/officeDocument/2006/relationships/slide" Target="/ppt/slides/slide4.xml" Id="R3a63ec1204414249" /><Relationship Type="http://schemas.openxmlformats.org/officeDocument/2006/relationships/slide" Target="/ppt/slides/slide5.xml" Id="R3c6d4210aa614f96" /><Relationship Type="http://schemas.openxmlformats.org/officeDocument/2006/relationships/slide" Target="/ppt/slides/slide6.xml" Id="R39016ac0e82f44bb" /><Relationship Type="http://schemas.openxmlformats.org/officeDocument/2006/relationships/slide" Target="/ppt/slides/slide7.xml" Id="R54cd19c1e33f42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e0c1b5293d4a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f2bfbe1eee47fc" /><Relationship Type="http://schemas.openxmlformats.org/officeDocument/2006/relationships/notesMaster" Target="/ppt/notesMasters/notesMaster1.xml" Id="R1aba1987068f4f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7eb35544eb4487" /><Relationship Type="http://schemas.openxmlformats.org/officeDocument/2006/relationships/notesMaster" Target="/ppt/notesMasters/notesMaster1.xml" Id="R286e7a9b1c8241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c81586779e4e9f" /><Relationship Type="http://schemas.openxmlformats.org/officeDocument/2006/relationships/notesMaster" Target="/ppt/notesMasters/notesMaster1.xml" Id="Rb8859ed02c764a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6d72f0c2f041cf" /><Relationship Type="http://schemas.openxmlformats.org/officeDocument/2006/relationships/notesMaster" Target="/ppt/notesMasters/notesMaster1.xml" Id="Rca5686e1863e47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54626b4ab34e1b" /><Relationship Type="http://schemas.openxmlformats.org/officeDocument/2006/relationships/notesMaster" Target="/ppt/notesMasters/notesMaster1.xml" Id="R669f4833d1594d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c34984e3974a20" /><Relationship Type="http://schemas.openxmlformats.org/officeDocument/2006/relationships/notesMaster" Target="/ppt/notesMasters/notesMaster1.xml" Id="R10dcddfb8e764b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7b20d3930345ed" /><Relationship Type="http://schemas.openxmlformats.org/officeDocument/2006/relationships/notesMaster" Target="/ppt/notesMasters/notesMaster1.xml" Id="R9c38fe062d4447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各位老师好，我是［学院］的［姓名］。下面从个人介绍、成果介绍和目前工作三个方面，汇报我的国家奖学金申请情况。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我就读于［学校］［学院］，专业是［专业］，导师为［导师］。目前处于研究生三年级，主要围绕［研究方向］开展学习与科研工作。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目前，我取得［数量］篇论文和［数量］项知识产权成果，参与［数量］项科研项目，并获得［代表性奖项］。接下来重点介绍最能体现本人贡献的两项工作。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项代表性成果是［成果名称］。针对［具体问题］，我提出了［方法］，重点承担［本人任务］。在［实验条件］下，与［对比方法］相比，［指标］达到［真实结果］。这项成果已［发表或录用］于［期刊或会议］，我的作者顺序是［顺序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项代表性成果是［成果名称］。针对［具体问题］，我提出了［方法］，重点承担［本人任务］。在［实验条件］下，与［对比方法］相比，［指标］达到［真实结果］。这项成果已［发表或录用］于［期刊或会议］，我的作者顺序是［顺序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，我的重点工作是［课题或学位论文题目］，目标是［解决的问题］。现阶段已完成［已完成任务］，正在推进［当前任务］。针对［关键难点］，我计划通过［具体方法］继续验证，并将可靠结果纳入学位论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以上是我的汇报。感谢导师和团队的支持，感谢各位老师的审议，恳请批评指正。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ca28e5749e44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785cc3326a4ac1" /><Relationship Type="http://schemas.openxmlformats.org/officeDocument/2006/relationships/slideLayout" Target="/ppt/slideLayouts/slideLayout1.xml" Id="R43dd927d9bca47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dd927d9bca47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bb8a5782546e7" /><Relationship Type="http://schemas.openxmlformats.org/officeDocument/2006/relationships/image" Target="/ppt/media/image.png" Id="R3c85d750fb584a10" /><Relationship Type="http://schemas.openxmlformats.org/officeDocument/2006/relationships/image" Target="/ppt/media/image2.png" Id="Rf0826f111eda43b5" /><Relationship Type="http://schemas.openxmlformats.org/officeDocument/2006/relationships/notesSlide" Target="/ppt/notesSlides/notesSlide1.xml" Id="Rf973335b080042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3842011e74a89" /><Relationship Type="http://schemas.openxmlformats.org/officeDocument/2006/relationships/image" Target="/ppt/media/image3.png" Id="R20f84417d2784953" /><Relationship Type="http://schemas.openxmlformats.org/officeDocument/2006/relationships/notesSlide" Target="/ppt/notesSlides/notesSlide2.xml" Id="Ra6240bcce9ca43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ad6d1e7414a45" /><Relationship Type="http://schemas.openxmlformats.org/officeDocument/2006/relationships/notesSlide" Target="/ppt/notesSlides/notesSlide3.xml" Id="R09b53ae6bcd34f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84edc2982463f" /><Relationship Type="http://schemas.openxmlformats.org/officeDocument/2006/relationships/image" Target="/ppt/media/image4.png" Id="Ra5fba602d199455a" /><Relationship Type="http://schemas.openxmlformats.org/officeDocument/2006/relationships/image" Target="/ppt/media/image5.png" Id="R674c4fb8cba944f3" /><Relationship Type="http://schemas.openxmlformats.org/officeDocument/2006/relationships/image" Target="/ppt/media/image6.png" Id="Rda52b02f285a4698" /><Relationship Type="http://schemas.openxmlformats.org/officeDocument/2006/relationships/image" Target="/ppt/media/image7.png" Id="Rde289265b92d4614" /><Relationship Type="http://schemas.openxmlformats.org/officeDocument/2006/relationships/notesSlide" Target="/ppt/notesSlides/notesSlide4.xml" Id="Reff080b996694e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5cc4e1ad04e9e" /><Relationship Type="http://schemas.openxmlformats.org/officeDocument/2006/relationships/image" Target="/ppt/media/image8.png" Id="Rd195b51c5ddb49e6" /><Relationship Type="http://schemas.openxmlformats.org/officeDocument/2006/relationships/image" Target="/ppt/media/image9.png" Id="R999756ee4df348ce" /><Relationship Type="http://schemas.openxmlformats.org/officeDocument/2006/relationships/notesSlide" Target="/ppt/notesSlides/notesSlide5.xml" Id="Rc20125523a3c46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a1c80d8de4844" /><Relationship Type="http://schemas.openxmlformats.org/officeDocument/2006/relationships/image" Target="/ppt/media/image10.png" Id="R63bc43127a434feb" /><Relationship Type="http://schemas.openxmlformats.org/officeDocument/2006/relationships/image" Target="/ppt/media/image11.png" Id="R94c9870d566f47e6" /><Relationship Type="http://schemas.openxmlformats.org/officeDocument/2006/relationships/image" Target="/ppt/media/image12.png" Id="R4312cf70be864f0e" /><Relationship Type="http://schemas.openxmlformats.org/officeDocument/2006/relationships/image" Target="/ppt/media/image13.png" Id="Rf3d8740a049c4aca" /><Relationship Type="http://schemas.openxmlformats.org/officeDocument/2006/relationships/image" Target="/ppt/media/image14.png" Id="R21497e05f33d4603" /><Relationship Type="http://schemas.openxmlformats.org/officeDocument/2006/relationships/notesSlide" Target="/ppt/notesSlides/notesSlide6.xml" Id="R124a13afd86648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3679a32a94546" /><Relationship Type="http://schemas.openxmlformats.org/officeDocument/2006/relationships/image" Target="/ppt/media/image15.png" Id="Re32a267016ec47c8" /><Relationship Type="http://schemas.openxmlformats.org/officeDocument/2006/relationships/image" Target="/ppt/media/image16.png" Id="R446bd458306a4564" /><Relationship Type="http://schemas.openxmlformats.org/officeDocument/2006/relationships/notesSlide" Target="/ppt/notesSlides/notesSlide7.xml" Id="Rc53e411d459d4c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5d750fb584a1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26f111eda43b5"/>
          <a:stretch xmlns:a="http://schemas.openxmlformats.org/drawingml/2006/main"/>
        </p:blipFill>
        <p:spPr>
          <a:xfrm xmlns:a="http://schemas.openxmlformats.org/drawingml/2006/main">
            <a:off x="10572750" y="30480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B63C4C4-96C9-4BCD-B080-444F77C5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39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国家奖学金申请答辩</a:t>
            </a:r>
          </a:p>
        </p:txBody>
      </p:sp>
      <p:sp>
        <p:nvSpPr>
          <p:cNvPr id="4" name="text-1">
            <a:extLst xmlns:a="http://schemas.openxmlformats.org/drawingml/2006/main">
              <a:ext uri="{FF2B5EF4-FFF2-40B4-BE49-F238E27FC236}">
                <a16:creationId xmlns:a16="http://schemas.microsoft.com/office/drawing/2014/main" id="{16DE5DC6-369A-4DD3-ADC0-951C28C2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0512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电子科技大学  信息与通信工程学院</a:t>
            </a:r>
          </a:p>
        </p:txBody>
      </p:sp>
      <p:sp>
        <p:nvSpPr>
          <p:cNvPr id="5" name="text-2">
            <a:extLst xmlns:a="http://schemas.openxmlformats.org/drawingml/2006/main">
              <a:ext uri="{FF2B5EF4-FFF2-40B4-BE49-F238E27FC236}">
                <a16:creationId xmlns:a16="http://schemas.microsoft.com/office/drawing/2014/main" id="{89AB2AF8-268F-41BB-8908-17A2CC91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1475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张宇</a:t>
            </a:r>
          </a:p>
        </p:txBody>
      </p:sp>
      <p:sp>
        <p:nvSpPr>
          <p:cNvPr id="6" name="text-3">
            <a:extLst xmlns:a="http://schemas.openxmlformats.org/drawingml/2006/main">
              <a:ext uri="{FF2B5EF4-FFF2-40B4-BE49-F238E27FC236}">
                <a16:creationId xmlns:a16="http://schemas.microsoft.com/office/drawing/2014/main" id="{A84529B1-792D-4FA7-B800-79138500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工科研究生三年级</a:t>
            </a:r>
          </a:p>
        </p:txBody>
      </p:sp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15EF43AC-0850-4CAF-AB5A-0CD4ABCE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答辩日期  2026/10/10</a:t>
            </a:r>
          </a:p>
        </p:txBody>
      </p:sp>
    </p:spTree>
    <p:extLst>
      <p:ext uri="{BB962C8B-B14F-4D97-AF65-F5344CB8AC3E}">
        <p14:creationId xmlns:p14="http://schemas.microsoft.com/office/powerpoint/2010/main" val="17423280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0E85F9-C9F4-4EE8-860C-C70824D5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一、个人介绍</a:t>
            </a:r>
          </a:p>
        </p:txBody>
      </p:sp>
      <p:sp>
        <p:nvSpPr>
          <p:cNvPr id="2" name="divider-5">
            <a:extLst xmlns:a="http://schemas.openxmlformats.org/drawingml/2006/main">
              <a:ext uri="{FF2B5EF4-FFF2-40B4-BE49-F238E27FC236}">
                <a16:creationId xmlns:a16="http://schemas.microsoft.com/office/drawing/2014/main" id="{781B45A3-58E3-42C9-88DC-24CC134E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3F8F"/>
            </a:solidFill>
            <a:prstDash val="solid"/>
          </a:ln>
        </p:spPr>
      </p:sp>
      <p:sp>
        <p:nvSpPr>
          <p:cNvPr id="3" name="text-6">
            <a:extLst xmlns:a="http://schemas.openxmlformats.org/drawingml/2006/main">
              <a:ext uri="{FF2B5EF4-FFF2-40B4-BE49-F238E27FC236}">
                <a16:creationId xmlns:a16="http://schemas.microsoft.com/office/drawing/2014/main" id="{389E3D20-5F46-4FAD-B75C-BE610BF7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04925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教育经历</a:t>
            </a:r>
          </a:p>
        </p:txBody>
      </p:sp>
      <p:sp>
        <p:nvSpPr>
          <p:cNvPr id="4" name="text-7">
            <a:extLst xmlns:a="http://schemas.openxmlformats.org/drawingml/2006/main">
              <a:ext uri="{FF2B5EF4-FFF2-40B4-BE49-F238E27FC236}">
                <a16:creationId xmlns:a16="http://schemas.microsoft.com/office/drawing/2014/main" id="{A88290F3-20AD-4A9F-977D-3EB308C0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192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2024.06 至今</a:t>
            </a:r>
          </a:p>
        </p:txBody>
      </p:sp>
      <p:sp>
        <p:nvSpPr>
          <p:cNvPr id="5" name="text-8">
            <a:extLst xmlns:a="http://schemas.openxmlformats.org/drawingml/2006/main">
              <a:ext uri="{FF2B5EF4-FFF2-40B4-BE49-F238E27FC236}">
                <a16:creationId xmlns:a16="http://schemas.microsoft.com/office/drawing/2014/main" id="{1304CBE3-4267-48EC-B840-E196B16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43075"/>
            <a:ext cx="442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rPr>
              <a:t>电子科技大学</a:t>
            </a:r>
          </a:p>
        </p:txBody>
      </p:sp>
      <p:sp>
        <p:nvSpPr>
          <p:cNvPr id="6" name="text-9">
            <a:extLst xmlns:a="http://schemas.openxmlformats.org/drawingml/2006/main">
              <a:ext uri="{FF2B5EF4-FFF2-40B4-BE49-F238E27FC236}">
                <a16:creationId xmlns:a16="http://schemas.microsoft.com/office/drawing/2014/main" id="{8F9B3A3B-F745-423A-BD83-E5F088E4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57425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rPr>
              <a:t>专业：电子信息</a:t>
            </a:r>
          </a:p>
        </p:txBody>
      </p:sp>
      <p:sp>
        <p:nvSpPr>
          <p:cNvPr id="7" name="text-10">
            <a:extLst xmlns:a="http://schemas.openxmlformats.org/drawingml/2006/main">
              <a:ext uri="{FF2B5EF4-FFF2-40B4-BE49-F238E27FC236}">
                <a16:creationId xmlns:a16="http://schemas.microsoft.com/office/drawing/2014/main" id="{DACB9C5E-BEBB-4FB2-874E-B241BD9A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2020.09—2024.06</a:t>
            </a:r>
          </a:p>
        </p:txBody>
      </p:sp>
      <p:sp>
        <p:nvSpPr>
          <p:cNvPr id="8" name="text-11">
            <a:extLst xmlns:a="http://schemas.openxmlformats.org/drawingml/2006/main">
              <a:ext uri="{FF2B5EF4-FFF2-40B4-BE49-F238E27FC236}">
                <a16:creationId xmlns:a16="http://schemas.microsoft.com/office/drawing/2014/main" id="{1A43A0C3-ECDA-481A-89C4-C65BDE04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05100"/>
            <a:ext cx="442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rPr>
              <a:t>杭州电子科技大学</a:t>
            </a:r>
          </a:p>
        </p:txBody>
      </p:sp>
      <p:sp>
        <p:nvSpPr>
          <p:cNvPr id="9" name="text-12">
            <a:extLst xmlns:a="http://schemas.openxmlformats.org/drawingml/2006/main">
              <a:ext uri="{FF2B5EF4-FFF2-40B4-BE49-F238E27FC236}">
                <a16:creationId xmlns:a16="http://schemas.microsoft.com/office/drawing/2014/main" id="{3C8FEB2A-EB5C-402A-85B8-502AB353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194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rPr>
              <a:t>专业：电子信息工程</a:t>
            </a:r>
          </a:p>
        </p:txBody>
      </p:sp>
      <p:sp>
        <p:nvSpPr>
          <p:cNvPr id="10" name="divider-13">
            <a:extLst xmlns:a="http://schemas.openxmlformats.org/drawingml/2006/main">
              <a:ext uri="{FF2B5EF4-FFF2-40B4-BE49-F238E27FC236}">
                <a16:creationId xmlns:a16="http://schemas.microsoft.com/office/drawing/2014/main" id="{40407A1B-11C3-4787-A14F-8ED5BA46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D"/>
            </a:solidFill>
            <a:prstDash val="solid"/>
          </a:ln>
        </p:spPr>
      </p:sp>
      <p:sp>
        <p:nvSpPr>
          <p:cNvPr id="11" name="text-14">
            <a:extLst xmlns:a="http://schemas.openxmlformats.org/drawingml/2006/main">
              <a:ext uri="{FF2B5EF4-FFF2-40B4-BE49-F238E27FC236}">
                <a16:creationId xmlns:a16="http://schemas.microsoft.com/office/drawing/2014/main" id="{ED04CC57-F97F-4276-8280-778473A1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荣誉与项目经历</a:t>
            </a:r>
          </a:p>
        </p:txBody>
      </p:sp>
      <p:sp>
        <p:nvSpPr>
          <p:cNvPr id="12" name="text-15">
            <a:extLst xmlns:a="http://schemas.openxmlformats.org/drawingml/2006/main">
              <a:ext uri="{FF2B5EF4-FFF2-40B4-BE49-F238E27FC236}">
                <a16:creationId xmlns:a16="http://schemas.microsoft.com/office/drawing/2014/main" id="{84A8F86C-ED2F-44DD-B2DE-5C498B9D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52950"/>
            <a:ext cx="652462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rPr>
              <a:t>校优秀毕业生</a:t>
            </a:r>
          </a:p>
          <a:p xmlns:a="http://schemas.openxmlformats.org/drawingml/2006/main">
            <a:pPr algn="l">
              <a:defRPr sz="2025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rPr>
              <a:t>浙江省电子设计大赛省二等奖</a:t>
            </a:r>
          </a:p>
          <a:p xmlns:a="http://schemas.openxmlformats.org/drawingml/2006/main">
            <a:pPr algn="l">
              <a:defRPr sz="2025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rPr>
              <a:t>省新苗项目队长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84417d2784953"/>
          <a:stretch xmlns:a="http://schemas.openxmlformats.org/drawingml/2006/main"/>
        </p:blipFill>
        <p:spPr>
          <a:xfrm xmlns:a="http://schemas.openxmlformats.org/drawingml/2006/main">
            <a:off x="9573662" y="1409700"/>
            <a:ext cx="1779101" cy="2524125"/>
          </a:xfrm>
          <a:prstGeom xmlns:a="http://schemas.openxmlformats.org/drawingml/2006/main" prst="rect">
            <a:avLst/>
          </a:prstGeom>
        </p:spPr>
      </p:pic>
      <p:sp>
        <p:nvSpPr>
          <p:cNvPr id="14" name="text-16">
            <a:extLst xmlns:a="http://schemas.openxmlformats.org/drawingml/2006/main">
              <a:ext uri="{FF2B5EF4-FFF2-40B4-BE49-F238E27FC236}">
                <a16:creationId xmlns:a16="http://schemas.microsoft.com/office/drawing/2014/main" id="{2A96DA8C-6511-4DFE-AA63-D37A46D2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049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张宇</a:t>
            </a:r>
          </a:p>
        </p:txBody>
      </p:sp>
      <p:sp>
        <p:nvSpPr>
          <p:cNvPr id="15" name="text-17">
            <a:extLst xmlns:a="http://schemas.openxmlformats.org/drawingml/2006/main">
              <a:ext uri="{FF2B5EF4-FFF2-40B4-BE49-F238E27FC236}">
                <a16:creationId xmlns:a16="http://schemas.microsoft.com/office/drawing/2014/main" id="{43D40681-A338-47CF-B24B-714946A2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09800"/>
            <a:ext cx="1857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rPr>
              <a:t>年级：研三</a:t>
            </a:r>
          </a:p>
          <a:p xmlns:a="http://schemas.openxmlformats.org/drawingml/2006/main">
            <a:pPr algn="l">
              <a:defRPr sz="1950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rPr>
              <a:t>导师：刘喆</a:t>
            </a:r>
          </a:p>
        </p:txBody>
      </p:sp>
      <p:sp>
        <p:nvSpPr>
          <p:cNvPr id="16" name="text-18">
            <a:extLst xmlns:a="http://schemas.openxmlformats.org/drawingml/2006/main">
              <a:ext uri="{FF2B5EF4-FFF2-40B4-BE49-F238E27FC236}">
                <a16:creationId xmlns:a16="http://schemas.microsoft.com/office/drawing/2014/main" id="{910899B3-2D59-4F7C-931D-A4D98241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3434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研究方向</a:t>
            </a:r>
          </a:p>
        </p:txBody>
      </p:sp>
      <p:sp>
        <p:nvSpPr>
          <p:cNvPr id="17" name="text-19">
            <a:extLst xmlns:a="http://schemas.openxmlformats.org/drawingml/2006/main">
              <a:ext uri="{FF2B5EF4-FFF2-40B4-BE49-F238E27FC236}">
                <a16:creationId xmlns:a16="http://schemas.microsoft.com/office/drawing/2014/main" id="{16144C29-690E-4847-B491-47A12F93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48225"/>
            <a:ext cx="40767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rPr>
              <a:t>星载 SAR 成像</a:t>
            </a:r>
          </a:p>
          <a:p xmlns:a="http://schemas.openxmlformats.org/drawingml/2006/main">
            <a:pPr algn="l">
              <a:defRPr sz="1950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rPr>
              <a:t>星载 SAR 的 RFI 抑制</a:t>
            </a:r>
          </a:p>
        </p:txBody>
      </p:sp>
      <p:sp>
        <p:nvSpPr>
          <p:cNvPr id="18" name="text-20">
            <a:extLst xmlns:a="http://schemas.openxmlformats.org/drawingml/2006/main">
              <a:ext uri="{FF2B5EF4-FFF2-40B4-BE49-F238E27FC236}">
                <a16:creationId xmlns:a16="http://schemas.microsoft.com/office/drawing/2014/main" id="{8A385A12-2DEF-41E6-B7E9-1215C339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246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02 / 07</a:t>
            </a:r>
          </a:p>
        </p:txBody>
      </p:sp>
    </p:spTree>
    <p:extLst>
      <p:ext uri="{BB962C8B-B14F-4D97-AF65-F5344CB8AC3E}">
        <p14:creationId xmlns:p14="http://schemas.microsoft.com/office/powerpoint/2010/main" val="14051789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EF1893-384C-47E7-AB7E-EB0B447F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二、成果介绍</a:t>
            </a:r>
          </a:p>
        </p:txBody>
      </p:sp>
      <p:sp>
        <p:nvSpPr>
          <p:cNvPr id="2" name="divider-21">
            <a:extLst xmlns:a="http://schemas.openxmlformats.org/drawingml/2006/main">
              <a:ext uri="{FF2B5EF4-FFF2-40B4-BE49-F238E27FC236}">
                <a16:creationId xmlns:a16="http://schemas.microsoft.com/office/drawing/2014/main" id="{1E49E45A-CD31-4002-A72A-78C09EA4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3F8F"/>
            </a:solidFill>
            <a:prstDash val="solid"/>
          </a:ln>
        </p:spPr>
      </p:sp>
      <p:sp>
        <p:nvSpPr>
          <p:cNvPr id="3" name="text-22">
            <a:extLst xmlns:a="http://schemas.openxmlformats.org/drawingml/2006/main">
              <a:ext uri="{FF2B5EF4-FFF2-40B4-BE49-F238E27FC236}">
                <a16:creationId xmlns:a16="http://schemas.microsoft.com/office/drawing/2014/main" id="{96359092-9F97-49CD-8D38-0978DCB3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1 篇 SCI 一区论文，3 篇会议论文，1 项发明专利申请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95300" y="1838325"/>
          <a:ext xmlns:a="http://schemas.openxmlformats.org/drawingml/2006/main" cx="11201400" cy="4229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85800"/>
                <a:gridCol w="1143000"/>
                <a:gridCol w="6381750"/>
                <a:gridCol w="1428750"/>
                <a:gridCol w="1562100"/>
              </a:tblGrid>
              <a:tr h="5143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序号</a:t>
                      </a:r>
                    </a:p>
                  </a:txBody>
                  <a:tcPr marL="91440" marR="91440" marT="45720" marB="45720" anchor="ctr">
                    <a:solidFill>
                      <a:srgbClr val="003F8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成果类别</a:t>
                      </a:r>
                    </a:p>
                  </a:txBody>
                  <a:tcPr marL="91440" marR="91440" marT="45720" marB="45720" anchor="ctr">
                    <a:solidFill>
                      <a:srgbClr val="003F8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名称</a:t>
                      </a:r>
                    </a:p>
                  </a:txBody>
                  <a:tcPr marL="91440" marR="91440" marT="45720" marB="45720" anchor="ctr">
                    <a:solidFill>
                      <a:srgbClr val="003F8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本人角色</a:t>
                      </a:r>
                    </a:p>
                  </a:txBody>
                  <a:tcPr marL="91440" marR="91440" marT="45720" marB="45720" anchor="ctr">
                    <a:solidFill>
                      <a:srgbClr val="003F8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003F8F"/>
                    </a:solidFill>
                  </a:tcPr>
                </a:tc>
              </a:tr>
              <a:tr h="7429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1F6FB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SCI一区</a:t>
                      </a:r>
                    </a:p>
                  </a:txBody>
                  <a:tcPr marL="91440" marR="91440" marT="45720" marB="45720" anchor="ctr">
                    <a:solidFill>
                      <a:srgbClr val="F1F6FB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Focusing High-Rank SAR Echoes via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Kernelized and Structured Matrix Completion</a:t>
                      </a:r>
                    </a:p>
                  </a:txBody>
                  <a:tcPr marL="91440" marR="91440" marT="45720" marB="45720" anchor="ctr">
                    <a:solidFill>
                      <a:srgbClr val="F1F6FB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学生一作</a:t>
                      </a:r>
                    </a:p>
                  </a:txBody>
                  <a:tcPr marL="91440" marR="91440" marT="45720" marB="45720" anchor="ctr">
                    <a:solidFill>
                      <a:srgbClr val="F1F6FB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已发表</a:t>
                      </a:r>
                    </a:p>
                  </a:txBody>
                  <a:tcPr marL="91440" marR="91440" marT="45720" marB="45720" anchor="ctr">
                    <a:solidFill>
                      <a:srgbClr val="F1F6FB"/>
                    </a:solidFill>
                  </a:tcPr>
                </a:tc>
              </a:tr>
              <a:tr h="7429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会议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Polynomial Kernelized Matrix Completion for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High-Rank SAR Echo Reconstruction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独立一作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已录用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1F6FB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发明专利</a:t>
                      </a:r>
                    </a:p>
                  </a:txBody>
                  <a:tcPr marL="91440" marR="91440" marT="45720" marB="45720" anchor="ctr">
                    <a:solidFill>
                      <a:srgbClr val="F1F6FB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一种基于一维核化与结构化矩阵补全的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高秩合成孔径雷达回波聚焦方法</a:t>
                      </a:r>
                    </a:p>
                  </a:txBody>
                  <a:tcPr marL="91440" marR="91440" marT="45720" marB="45720" anchor="ctr">
                    <a:solidFill>
                      <a:srgbClr val="F1F6FB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学生一作</a:t>
                      </a:r>
                    </a:p>
                  </a:txBody>
                  <a:tcPr marL="91440" marR="91440" marT="45720" marB="45720" anchor="ctr">
                    <a:solidFill>
                      <a:srgbClr val="F1F6FB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已申请</a:t>
                      </a:r>
                    </a:p>
                  </a:txBody>
                  <a:tcPr marL="91440" marR="91440" marT="45720" marB="45720" anchor="ctr">
                    <a:solidFill>
                      <a:srgbClr val="F1F6FB"/>
                    </a:solidFill>
                  </a:tcPr>
                </a:tc>
              </a:tr>
              <a:tr h="7429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会议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 PGA-Based Autofocus Method for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Forward-Looking Multi-Channel SAR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学生三作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已录用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1F6FB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会议</a:t>
                      </a:r>
                    </a:p>
                  </a:txBody>
                  <a:tcPr marL="91440" marR="91440" marT="45720" marB="45720" anchor="ctr">
                    <a:solidFill>
                      <a:srgbClr val="F1F6FB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Sub-Nyquist SAR Unambiguous Imaging via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Composite Sparse Regularization</a:t>
                      </a:r>
                    </a:p>
                  </a:txBody>
                  <a:tcPr marL="91440" marR="91440" marT="45720" marB="45720" anchor="ctr">
                    <a:solidFill>
                      <a:srgbClr val="F1F6FB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学生四作</a:t>
                      </a:r>
                    </a:p>
                  </a:txBody>
                  <a:tcPr marL="91440" marR="91440" marT="45720" marB="45720" anchor="ctr">
                    <a:solidFill>
                      <a:srgbClr val="F1F6FB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4344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已录用</a:t>
                      </a:r>
                    </a:p>
                  </a:txBody>
                  <a:tcPr marL="91440" marR="91440" marT="45720" marB="45720" anchor="ctr">
                    <a:solidFill>
                      <a:srgbClr val="F1F6FB"/>
                    </a:solidFill>
                  </a:tcPr>
                </a:tc>
              </a:tr>
            </a:tbl>
          </a:graphicData>
        </a:graphic>
      </p:graphicFrame>
      <p:sp>
        <p:nvSpPr>
          <p:cNvPr id="5" name="text-23">
            <a:extLst xmlns:a="http://schemas.openxmlformats.org/drawingml/2006/main">
              <a:ext uri="{FF2B5EF4-FFF2-40B4-BE49-F238E27FC236}">
                <a16:creationId xmlns:a16="http://schemas.microsoft.com/office/drawing/2014/main" id="{F827A868-2ECB-42DD-81F9-FEDD68EE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246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03 / 07</a:t>
            </a:r>
          </a:p>
        </p:txBody>
      </p:sp>
    </p:spTree>
    <p:extLst>
      <p:ext uri="{BB962C8B-B14F-4D97-AF65-F5344CB8AC3E}">
        <p14:creationId xmlns:p14="http://schemas.microsoft.com/office/powerpoint/2010/main" val="19841301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B45CE9-3F39-4796-9747-1F26641E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代表成果一：高秩 SAR 回波聚焦</a:t>
            </a:r>
          </a:p>
        </p:txBody>
      </p:sp>
      <p:sp>
        <p:nvSpPr>
          <p:cNvPr id="2" name="divider-24">
            <a:extLst xmlns:a="http://schemas.openxmlformats.org/drawingml/2006/main">
              <a:ext uri="{FF2B5EF4-FFF2-40B4-BE49-F238E27FC236}">
                <a16:creationId xmlns:a16="http://schemas.microsoft.com/office/drawing/2014/main" id="{5C6D0AD9-BCF6-429F-BA6E-36634A6F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3F8F"/>
            </a:solidFill>
            <a:prstDash val="solid"/>
          </a:ln>
        </p:spPr>
      </p:sp>
      <p:sp>
        <p:nvSpPr>
          <p:cNvPr id="3" name="text-25">
            <a:extLst xmlns:a="http://schemas.openxmlformats.org/drawingml/2006/main">
              <a:ext uri="{FF2B5EF4-FFF2-40B4-BE49-F238E27FC236}">
                <a16:creationId xmlns:a16="http://schemas.microsoft.com/office/drawing/2014/main" id="{45BFF0DF-0B32-40E4-B548-34FAADE8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Focusing High-Rank SAR Echoes via Kernelized and Structured Matrix Completion</a:t>
            </a:r>
          </a:p>
        </p:txBody>
      </p:sp>
      <p:sp>
        <p:nvSpPr>
          <p:cNvPr id="4" name="text-26">
            <a:extLst xmlns:a="http://schemas.openxmlformats.org/drawingml/2006/main">
              <a:ext uri="{FF2B5EF4-FFF2-40B4-BE49-F238E27FC236}">
                <a16:creationId xmlns:a16="http://schemas.microsoft.com/office/drawing/2014/main" id="{9FC01C06-178D-4428-8650-CB9F32B9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研究问题</a:t>
            </a:r>
          </a:p>
        </p:txBody>
      </p:sp>
      <p:sp>
        <p:nvSpPr>
          <p:cNvPr id="5" name="text-27">
            <a:extLst xmlns:a="http://schemas.openxmlformats.org/drawingml/2006/main">
              <a:ext uri="{FF2B5EF4-FFF2-40B4-BE49-F238E27FC236}">
                <a16:creationId xmlns:a16="http://schemas.microsoft.com/office/drawing/2014/main" id="{450C38B5-87D0-48E6-BAF7-AE5F9B85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19350"/>
            <a:ext cx="52863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rPr>
              <a:t>方位欠采样下，密集散射回波呈高秩特性。传统矩阵补全的低秩假设难以成立，导致成像模糊。</a:t>
            </a:r>
          </a:p>
        </p:txBody>
      </p:sp>
      <p:sp>
        <p:nvSpPr>
          <p:cNvPr id="6" name="text-28">
            <a:extLst xmlns:a="http://schemas.openxmlformats.org/drawingml/2006/main">
              <a:ext uri="{FF2B5EF4-FFF2-40B4-BE49-F238E27FC236}">
                <a16:creationId xmlns:a16="http://schemas.microsoft.com/office/drawing/2014/main" id="{807D22F8-7DA5-4023-B85A-63A96CF5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50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本人贡献</a:t>
            </a:r>
          </a:p>
        </p:txBody>
      </p:sp>
      <p:sp>
        <p:nvSpPr>
          <p:cNvPr id="7" name="text-29">
            <a:extLst xmlns:a="http://schemas.openxmlformats.org/drawingml/2006/main">
              <a:ext uri="{FF2B5EF4-FFF2-40B4-BE49-F238E27FC236}">
                <a16:creationId xmlns:a16="http://schemas.microsoft.com/office/drawing/2014/main" id="{87433F3F-4926-407B-B03E-D2BCC286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5505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rPr>
              <a:t>1  提出一维核化结构矩阵补全方法（1-D KSMC）</a:t>
            </a:r>
          </a:p>
          <a:p xmlns:a="http://schemas.openxmlformats.org/drawingml/2006/main">
            <a:pPr algn="l">
              <a:defRPr sz="1875" b="1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rPr>
              <a:t>2  分析降秩机制与一维重建优势</a:t>
            </a:r>
          </a:p>
          <a:p xmlns:a="http://schemas.openxmlformats.org/drawingml/2006/main">
            <a:pPr algn="l">
              <a:defRPr sz="1875" b="1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rPr>
              <a:t>3  完成实测数据验证</a:t>
            </a:r>
          </a:p>
        </p:txBody>
      </p:sp>
      <p:sp>
        <p:nvSpPr>
          <p:cNvPr id="8" name="text-30">
            <a:extLst xmlns:a="http://schemas.openxmlformats.org/drawingml/2006/main">
              <a:ext uri="{FF2B5EF4-FFF2-40B4-BE49-F238E27FC236}">
                <a16:creationId xmlns:a16="http://schemas.microsoft.com/office/drawing/2014/main" id="{F694B1C0-A721-4C45-B3D7-9160EA82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提出方法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ba602d199455a"/>
          <a:stretch xmlns:a="http://schemas.openxmlformats.org/drawingml/2006/main"/>
        </p:blipFill>
        <p:spPr>
          <a:xfrm xmlns:a="http://schemas.openxmlformats.org/drawingml/2006/main">
            <a:off x="501099" y="4162425"/>
            <a:ext cx="5274776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text-31">
            <a:extLst xmlns:a="http://schemas.openxmlformats.org/drawingml/2006/main">
              <a:ext uri="{FF2B5EF4-FFF2-40B4-BE49-F238E27FC236}">
                <a16:creationId xmlns:a16="http://schemas.microsoft.com/office/drawing/2014/main" id="{E89B8E9C-2D72-4C22-B9A9-6E148B05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550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成像对比与噪声实验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c4fb8cba944f3"/>
          <a:stretch xmlns:a="http://schemas.openxmlformats.org/drawingml/2006/main"/>
        </p:blipFill>
        <p:spPr>
          <a:xfrm xmlns:a="http://schemas.openxmlformats.org/drawingml/2006/main">
            <a:off x="6191250" y="4378941"/>
            <a:ext cx="1438275" cy="1443393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2b02f285a4698"/>
          <a:stretch xmlns:a="http://schemas.openxmlformats.org/drawingml/2006/main"/>
        </p:blipFill>
        <p:spPr>
          <a:xfrm xmlns:a="http://schemas.openxmlformats.org/drawingml/2006/main">
            <a:off x="7791450" y="4376363"/>
            <a:ext cx="1438275" cy="1448548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89265b92d4614"/>
          <a:stretch xmlns:a="http://schemas.openxmlformats.org/drawingml/2006/main"/>
        </p:blipFill>
        <p:spPr>
          <a:xfrm xmlns:a="http://schemas.openxmlformats.org/drawingml/2006/main">
            <a:off x="9382125" y="4279647"/>
            <a:ext cx="2314575" cy="1718181"/>
          </a:xfrm>
          <a:prstGeom xmlns:a="http://schemas.openxmlformats.org/drawingml/2006/main" prst="rect">
            <a:avLst/>
          </a:prstGeom>
        </p:spPr>
      </p:pic>
      <p:sp>
        <p:nvSpPr>
          <p:cNvPr id="14" name="text-32">
            <a:extLst xmlns:a="http://schemas.openxmlformats.org/drawingml/2006/main">
              <a:ext uri="{FF2B5EF4-FFF2-40B4-BE49-F238E27FC236}">
                <a16:creationId xmlns:a16="http://schemas.microsoft.com/office/drawing/2014/main" id="{B082CEE4-A7AF-4EBE-A546-05E558DC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76950"/>
            <a:ext cx="5505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IEEE Transactions on Geoscience and Remote Sensing（TGRS）</a:t>
            </a:r>
          </a:p>
          <a:p xmlns:a="http://schemas.openxmlformats.org/drawingml/2006/main">
            <a:pPr algn="l">
              <a:defRPr sz="1275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2026，Vol. 64，Article No. 5212914，本人第二作者</a:t>
            </a:r>
          </a:p>
        </p:txBody>
      </p:sp>
    </p:spTree>
    <p:extLst>
      <p:ext uri="{BB962C8B-B14F-4D97-AF65-F5344CB8AC3E}">
        <p14:creationId xmlns:p14="http://schemas.microsoft.com/office/powerpoint/2010/main" val="10839543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589286-E96E-4677-AC1F-9D0B22FC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代表成果二：多项式核回波重建</a:t>
            </a:r>
          </a:p>
        </p:txBody>
      </p:sp>
      <p:sp>
        <p:nvSpPr>
          <p:cNvPr id="2" name="divider-33">
            <a:extLst xmlns:a="http://schemas.openxmlformats.org/drawingml/2006/main">
              <a:ext uri="{FF2B5EF4-FFF2-40B4-BE49-F238E27FC236}">
                <a16:creationId xmlns:a16="http://schemas.microsoft.com/office/drawing/2014/main" id="{67EAE2B4-AFAA-4B51-8682-3CC05BF8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3F8F"/>
            </a:solidFill>
            <a:prstDash val="solid"/>
          </a:ln>
        </p:spPr>
      </p:sp>
      <p:sp>
        <p:nvSpPr>
          <p:cNvPr id="3" name="text-34">
            <a:extLst xmlns:a="http://schemas.openxmlformats.org/drawingml/2006/main">
              <a:ext uri="{FF2B5EF4-FFF2-40B4-BE49-F238E27FC236}">
                <a16:creationId xmlns:a16="http://schemas.microsoft.com/office/drawing/2014/main" id="{927A8C40-1AD2-48EB-80F1-7EAFF3DD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Polynomial Kernelized Matrix Completion for High-Rank SAR Echo Reconstruction</a:t>
            </a:r>
          </a:p>
        </p:txBody>
      </p:sp>
      <p:sp>
        <p:nvSpPr>
          <p:cNvPr id="4" name="text-35">
            <a:extLst xmlns:a="http://schemas.openxmlformats.org/drawingml/2006/main">
              <a:ext uri="{FF2B5EF4-FFF2-40B4-BE49-F238E27FC236}">
                <a16:creationId xmlns:a16="http://schemas.microsoft.com/office/drawing/2014/main" id="{84BCAA74-3642-4188-9CE6-B7C189BB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研究问题</a:t>
            </a:r>
          </a:p>
        </p:txBody>
      </p:sp>
      <p:sp>
        <p:nvSpPr>
          <p:cNvPr id="5" name="text-36">
            <a:extLst xmlns:a="http://schemas.openxmlformats.org/drawingml/2006/main">
              <a:ext uri="{FF2B5EF4-FFF2-40B4-BE49-F238E27FC236}">
                <a16:creationId xmlns:a16="http://schemas.microsoft.com/office/drawing/2014/main" id="{99754BDE-81B2-4E13-B55A-558AFD60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19350"/>
            <a:ext cx="3952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rPr>
              <a:t>回波缺失时，复杂城市区域的多散射中心信号与海陆交界边缘难以准确恢复。现有方法容易出现目标重影或边界失真，影响聚焦成像。</a:t>
            </a:r>
          </a:p>
        </p:txBody>
      </p:sp>
      <p:sp>
        <p:nvSpPr>
          <p:cNvPr id="6" name="text-37">
            <a:extLst xmlns:a="http://schemas.openxmlformats.org/drawingml/2006/main">
              <a:ext uri="{FF2B5EF4-FFF2-40B4-BE49-F238E27FC236}">
                <a16:creationId xmlns:a16="http://schemas.microsoft.com/office/drawing/2014/main" id="{10413EA3-D6B1-4397-A74D-1D6C41EB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0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本人贡献</a:t>
            </a:r>
          </a:p>
        </p:txBody>
      </p:sp>
      <p:sp>
        <p:nvSpPr>
          <p:cNvPr id="7" name="text-38">
            <a:extLst xmlns:a="http://schemas.openxmlformats.org/drawingml/2006/main">
              <a:ext uri="{FF2B5EF4-FFF2-40B4-BE49-F238E27FC236}">
                <a16:creationId xmlns:a16="http://schemas.microsoft.com/office/drawing/2014/main" id="{B22C35CB-8734-434D-AA65-D7442095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67275"/>
            <a:ext cx="395287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rPr>
              <a:t>构建多项式核补全模型（PKMC）</a:t>
            </a:r>
          </a:p>
          <a:p xmlns:a="http://schemas.openxmlformats.org/drawingml/2006/main">
            <a:pPr algn="l">
              <a:defRPr sz="1950" b="1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rPr>
              <a:t>设计分块迭代求解流程</a:t>
            </a:r>
          </a:p>
          <a:p xmlns:a="http://schemas.openxmlformats.org/drawingml/2006/main">
            <a:pPr algn="l">
              <a:defRPr sz="1950" b="1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rPr>
              <a:t>开展针对性场景评估</a:t>
            </a:r>
          </a:p>
        </p:txBody>
      </p:sp>
      <p:sp>
        <p:nvSpPr>
          <p:cNvPr id="8" name="text-39">
            <a:extLst xmlns:a="http://schemas.openxmlformats.org/drawingml/2006/main">
              <a:ext uri="{FF2B5EF4-FFF2-40B4-BE49-F238E27FC236}">
                <a16:creationId xmlns:a16="http://schemas.microsoft.com/office/drawing/2014/main" id="{7AF07CBB-63FD-47FD-B10A-5B40C80D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0025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关键结果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5b51c5ddb49e6"/>
          <a:stretch xmlns:a="http://schemas.openxmlformats.org/drawingml/2006/main"/>
        </p:blipFill>
        <p:spPr>
          <a:xfrm xmlns:a="http://schemas.openxmlformats.org/drawingml/2006/main">
            <a:off x="4933950" y="2490948"/>
            <a:ext cx="3209925" cy="3200079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756ee4df348ce"/>
          <a:stretch xmlns:a="http://schemas.openxmlformats.org/drawingml/2006/main"/>
        </p:blipFill>
        <p:spPr>
          <a:xfrm xmlns:a="http://schemas.openxmlformats.org/drawingml/2006/main">
            <a:off x="8467725" y="2486025"/>
            <a:ext cx="3209925" cy="3209925"/>
          </a:xfrm>
          <a:prstGeom xmlns:a="http://schemas.openxmlformats.org/drawingml/2006/main" prst="rect">
            <a:avLst/>
          </a:prstGeom>
        </p:spPr>
      </p:pic>
      <p:sp>
        <p:nvSpPr>
          <p:cNvPr id="11" name="text-40">
            <a:extLst xmlns:a="http://schemas.openxmlformats.org/drawingml/2006/main">
              <a:ext uri="{FF2B5EF4-FFF2-40B4-BE49-F238E27FC236}">
                <a16:creationId xmlns:a16="http://schemas.microsoft.com/office/drawing/2014/main" id="{5E7D5E80-A578-491C-8106-B3E16A76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915025"/>
            <a:ext cx="6762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D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7D85"/>
                </a:solidFill>
                <a:latin typeface="Noto Sans CJK SC"/>
                <a:ea typeface="Noto Sans CJK SC"/>
                <a:cs typeface="Noto Sans CJK SC"/>
              </a:rPr>
              <a:t>PKMC 在测试场景中取得最优 rMSE 和相干系数，减少目标重影并改善聚焦效果。</a:t>
            </a:r>
          </a:p>
        </p:txBody>
      </p:sp>
    </p:spTree>
    <p:extLst>
      <p:ext uri="{BB962C8B-B14F-4D97-AF65-F5344CB8AC3E}">
        <p14:creationId xmlns:p14="http://schemas.microsoft.com/office/powerpoint/2010/main" val="12919833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D9E1D8-4DC6-4C98-9C99-F3288025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三、目前工作</a:t>
            </a:r>
          </a:p>
        </p:txBody>
      </p:sp>
      <p:sp>
        <p:nvSpPr>
          <p:cNvPr id="2" name="divider-41">
            <a:extLst xmlns:a="http://schemas.openxmlformats.org/drawingml/2006/main">
              <a:ext uri="{FF2B5EF4-FFF2-40B4-BE49-F238E27FC236}">
                <a16:creationId xmlns:a16="http://schemas.microsoft.com/office/drawing/2014/main" id="{65297130-5C0C-42EC-9508-B62FD36D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3F8F"/>
            </a:solidFill>
            <a:prstDash val="solid"/>
          </a:ln>
        </p:spPr>
      </p:sp>
      <p:sp>
        <p:nvSpPr>
          <p:cNvPr id="3" name="text-42">
            <a:extLst xmlns:a="http://schemas.openxmlformats.org/drawingml/2006/main">
              <a:ext uri="{FF2B5EF4-FFF2-40B4-BE49-F238E27FC236}">
                <a16:creationId xmlns:a16="http://schemas.microsoft.com/office/drawing/2014/main" id="{83C9F6B0-6EBF-4203-A788-B74004A9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Robust RFI Mitigation via Kernelized Nonlinear Matrix Factorization for Spaceborne SAR</a:t>
            </a:r>
          </a:p>
        </p:txBody>
      </p:sp>
      <p:sp>
        <p:nvSpPr>
          <p:cNvPr id="4" name="text-43">
            <a:extLst xmlns:a="http://schemas.openxmlformats.org/drawingml/2006/main">
              <a:ext uri="{FF2B5EF4-FFF2-40B4-BE49-F238E27FC236}">
                <a16:creationId xmlns:a16="http://schemas.microsoft.com/office/drawing/2014/main" id="{7F7D2D80-A9C8-4B85-81C4-B07E7252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研究目标</a:t>
            </a:r>
          </a:p>
        </p:txBody>
      </p:sp>
      <p:sp>
        <p:nvSpPr>
          <p:cNvPr id="5" name="text-44">
            <a:extLst xmlns:a="http://schemas.openxmlformats.org/drawingml/2006/main">
              <a:ext uri="{FF2B5EF4-FFF2-40B4-BE49-F238E27FC236}">
                <a16:creationId xmlns:a16="http://schemas.microsoft.com/office/drawing/2014/main" id="{F0D9BA5B-5AD4-43FD-9B46-9CD595D4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66975"/>
            <a:ext cx="276225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43447"/>
                </a:solidFill>
                <a:latin typeface="Noto Sans CJK SC"/>
                <a:ea typeface="Noto Sans CJK SC"/>
                <a:cs typeface="Noto Sans CJK SC"/>
              </a:rPr>
              <a:t>距离向窄包络干扰难以分离。利用核化非线性分解抑制干扰，保留 SAR 场景细节。</a:t>
            </a:r>
          </a:p>
        </p:txBody>
      </p:sp>
      <p:sp>
        <p:nvSpPr>
          <p:cNvPr id="6" name="text-45">
            <a:extLst xmlns:a="http://schemas.openxmlformats.org/drawingml/2006/main">
              <a:ext uri="{FF2B5EF4-FFF2-40B4-BE49-F238E27FC236}">
                <a16:creationId xmlns:a16="http://schemas.microsoft.com/office/drawing/2014/main" id="{9C30C479-236E-4A0A-8176-191B5A1F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19300"/>
            <a:ext cx="811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方法示意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c43127a434feb"/>
          <a:stretch xmlns:a="http://schemas.openxmlformats.org/drawingml/2006/main"/>
        </p:blipFill>
        <p:spPr>
          <a:xfrm xmlns:a="http://schemas.openxmlformats.org/drawingml/2006/main">
            <a:off x="3581400" y="2524319"/>
            <a:ext cx="8115300" cy="1666486"/>
          </a:xfrm>
          <a:prstGeom xmlns:a="http://schemas.openxmlformats.org/drawingml/2006/main" prst="rect">
            <a:avLst/>
          </a:prstGeom>
        </p:spPr>
      </p:pic>
      <p:sp>
        <p:nvSpPr>
          <p:cNvPr id="8" name="text-46">
            <a:extLst xmlns:a="http://schemas.openxmlformats.org/drawingml/2006/main">
              <a:ext uri="{FF2B5EF4-FFF2-40B4-BE49-F238E27FC236}">
                <a16:creationId xmlns:a16="http://schemas.microsoft.com/office/drawing/2014/main" id="{7C644157-4EC7-442F-85FC-818F7D29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52925"/>
            <a:ext cx="1120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研究结果</a:t>
            </a:r>
          </a:p>
        </p:txBody>
      </p:sp>
      <p:sp>
        <p:nvSpPr>
          <p:cNvPr id="9" name="text-47">
            <a:extLst xmlns:a="http://schemas.openxmlformats.org/drawingml/2006/main">
              <a:ext uri="{FF2B5EF4-FFF2-40B4-BE49-F238E27FC236}">
                <a16:creationId xmlns:a16="http://schemas.microsoft.com/office/drawing/2014/main" id="{3F64514F-E279-4F67-8E53-74B151FC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547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场景 1</a:t>
            </a:r>
          </a:p>
        </p:txBody>
      </p:sp>
      <p:sp>
        <p:nvSpPr>
          <p:cNvPr id="10" name="text-48">
            <a:extLst xmlns:a="http://schemas.openxmlformats.org/drawingml/2006/main">
              <a:ext uri="{FF2B5EF4-FFF2-40B4-BE49-F238E27FC236}">
                <a16:creationId xmlns:a16="http://schemas.microsoft.com/office/drawing/2014/main" id="{D47CABC6-B981-4C49-8DF1-B8DEBD43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29175"/>
            <a:ext cx="550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场景 2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9870d566f47e6"/>
          <a:stretch xmlns:a="http://schemas.openxmlformats.org/drawingml/2006/main"/>
        </p:blipFill>
        <p:spPr>
          <a:xfrm xmlns:a="http://schemas.openxmlformats.org/drawingml/2006/main">
            <a:off x="495300" y="5213015"/>
            <a:ext cx="2609850" cy="1356395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2cf70be864f0e"/>
          <a:stretch xmlns:a="http://schemas.openxmlformats.org/drawingml/2006/main"/>
        </p:blipFill>
        <p:spPr>
          <a:xfrm xmlns:a="http://schemas.openxmlformats.org/drawingml/2006/main">
            <a:off x="3333750" y="5216338"/>
            <a:ext cx="2638425" cy="134975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8740a049c4aca"/>
          <a:stretch xmlns:a="http://schemas.openxmlformats.org/drawingml/2006/main"/>
        </p:blipFill>
        <p:spPr>
          <a:xfrm xmlns:a="http://schemas.openxmlformats.org/drawingml/2006/main">
            <a:off x="6191250" y="5220387"/>
            <a:ext cx="2638425" cy="1313077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97e05f33d4603"/>
          <a:stretch xmlns:a="http://schemas.openxmlformats.org/drawingml/2006/main"/>
        </p:blipFill>
        <p:spPr>
          <a:xfrm xmlns:a="http://schemas.openxmlformats.org/drawingml/2006/main">
            <a:off x="9058275" y="5215781"/>
            <a:ext cx="2638425" cy="13222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738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a267016ec47c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bd458306a4564"/>
          <a:stretch xmlns:a="http://schemas.openxmlformats.org/drawingml/2006/main"/>
        </p:blipFill>
        <p:spPr>
          <a:xfrm xmlns:a="http://schemas.openxmlformats.org/drawingml/2006/main">
            <a:off x="10572750" y="30480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5C83E208-9C8C-4FBE-8C56-9C76680B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10191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00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感谢各位老师</a:t>
            </a:r>
          </a:p>
        </p:txBody>
      </p:sp>
      <p:sp>
        <p:nvSpPr>
          <p:cNvPr id="4" name="text-49">
            <a:extLst xmlns:a="http://schemas.openxmlformats.org/drawingml/2006/main">
              <a:ext uri="{FF2B5EF4-FFF2-40B4-BE49-F238E27FC236}">
                <a16:creationId xmlns:a16="http://schemas.microsoft.com/office/drawing/2014/main" id="{7750E9AC-3CE6-4DC1-9302-417A7657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0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恳请批评指正</a:t>
            </a:r>
          </a:p>
        </p:txBody>
      </p:sp>
      <p:sp>
        <p:nvSpPr>
          <p:cNvPr id="5" name="text-50">
            <a:extLst xmlns:a="http://schemas.openxmlformats.org/drawingml/2006/main">
              <a:ext uri="{FF2B5EF4-FFF2-40B4-BE49-F238E27FC236}">
                <a16:creationId xmlns:a16="http://schemas.microsoft.com/office/drawing/2014/main" id="{853E4B8A-B703-4D08-A808-B7C64416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03F8F"/>
                </a:solidFill>
                <a:latin typeface="Noto Sans CJK SC"/>
                <a:ea typeface="Noto Sans CJK SC"/>
                <a:cs typeface="Noto Sans CJK SC"/>
              </a:rPr>
              <a:t>张宇</a:t>
            </a:r>
          </a:p>
        </p:txBody>
      </p:sp>
      <p:sp>
        <p:nvSpPr>
          <p:cNvPr id="6" name="text-51">
            <a:extLst xmlns:a="http://schemas.openxmlformats.org/drawingml/2006/main">
              <a:ext uri="{FF2B5EF4-FFF2-40B4-BE49-F238E27FC236}">
                <a16:creationId xmlns:a16="http://schemas.microsoft.com/office/drawing/2014/main" id="{1C05791D-3628-46A0-A41C-A0B5440B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76925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0758C"/>
                </a:solidFill>
                <a:latin typeface="Noto Sans CJK SC"/>
                <a:ea typeface="Noto Sans CJK SC"/>
                <a:cs typeface="Noto Sans CJK SC"/>
              </a:rPr>
              <a:t>信息与通信工程学院</a:t>
            </a:r>
          </a:p>
        </p:txBody>
      </p:sp>
    </p:spTree>
    <p:extLst>
      <p:ext uri="{BB962C8B-B14F-4D97-AF65-F5344CB8AC3E}">
        <p14:creationId xmlns:p14="http://schemas.microsoft.com/office/powerpoint/2010/main" val="1874552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2026-10-11T06:28:11.5260000Z</dcterms:created>
  <dcterms:modified xsi:type="dcterms:W3CDTF">2026-10-11T06:28:11.5260000Z</dcterms:modified>
</coreProperties>
</file>