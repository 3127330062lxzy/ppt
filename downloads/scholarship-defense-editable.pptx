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各位老师好，我是［学院］的［姓名］。下面从个人介绍、成果介绍和目前工作三个方面，汇报我的国家奖学金申请情况。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我就读于［学校］［学院］，专业是［专业］，导师为［导师］。目前处于研究生三年级，主要围绕［研究方向］开展学习与科研工作。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我的课程［均分或绩点］为［数值］，综合排名为［名次］，参评人数为［人数］。研究上，我关注［应用场景］中的［工程问题］，并围绕这一问题持续开展课题研究。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目前，我取得［数量］篇论文和［数量］项知识产权成果，参与［数量］项科研项目，并获得［代表性奖项］。接下来重点介绍最能体现本人贡献的两项工作。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项代表性成果是［成果名称］。针对［具体问题］，我提出了［方法］，重点承担［本人任务］。在［实验条件］下，与［对比方法］相比，［指标］达到［真实结果］。这项成果已［发表或录用］于［期刊或会议］，我的作者顺序是［顺序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［项目名称］中，我主要负责［具体模块］，完成了［关键技术工作］。围绕［工程场景］，我开展了［测试或验证］，得到［实际结果］。这项工作验证了研究方法在工程条件下的适用性，也让我进一步掌握了［专业能力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此外，我获得了［代表性奖项］，在团队中承担［具体任务］。在集体工作方面，我参与［事项］，负责［职责］，取得［实际贡献］。这些经历让我更加重视团队协作与责任担当。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，我的重点工作是［课题或学位论文题目］，目标是［解决的问题］。现阶段已完成［已完成任务］，正在推进［当前任务］。针对［关键难点］，我计划通过［具体方法］继续验证，并将可靠结果纳入学位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阶段，我将首先完成［补充验证任务］，检验［关键指标］。随后整理［论文或系统成果］，并按照［时间安排］完成学位论文的写作与修改。我会优先保证研究证据完整、结果可靠，以及毕业工作按期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以上是我的汇报。感谢导师和团队的支持，感谢各位老师的审议，恳请批评指正。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71550" y="2528933"/>
            <a:ext cx="9284901" cy="0"/>
          </a:xfrm>
          <a:prstGeom prst="line">
            <a:avLst/>
          </a:prstGeom>
          <a:noFill/>
          <a:ln w="27940">
            <a:solidFill>
              <a:srgbClr val="00378D"/>
            </a:solidFill>
          </a:ln>
        </p:spPr>
        <p:txBody>
          <a:bodyPr/>
          <a:lstStyle/>
          <a:p/>
        </p:txBody>
      </p:sp>
      <p:graphicFrame>
        <p:nvGraphicFramePr>
          <p:cNvPr id="4" name="Table 4"/>
          <p:cNvGraphicFramePr/>
          <p:nvPr/>
        </p:nvGraphicFramePr>
        <p:xfrm>
          <a:off x="571550" y="3906363"/>
          <a:ext cx="6457160" cy="626767"/>
        </p:xfrm>
        <a:graphic>
          <a:graphicData uri="http://schemas.openxmlformats.org/drawingml/2006/table">
            <a:tbl>
              <a:tblPr/>
              <a:tblGrid>
                <a:gridCol w="1843862"/>
                <a:gridCol w="4613299"/>
              </a:tblGrid>
              <a:tr h="626767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姓名</a:t>
                      </a:r>
                      <a:endParaRPr lang="zh-CN" sz="2300"/>
                    </a:p>
                  </a:txBody>
                  <a:tcPr marL="123444" marR="2286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FFD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00"/>
                    </a:p>
                  </a:txBody>
                  <a:tcPr marL="123444" marR="22860" marT="22860" marB="22860" anchor="ctr">
                    <a:lnL w="12700">
                      <a:solidFill>
                        <a:srgbClr val="D4DFEF"/>
                      </a:solidFill>
                    </a:lnL>
                    <a:lnR w="12700">
                      <a:solidFill>
                        <a:srgbClr val="D4DFEF"/>
                      </a:solidFill>
                    </a:lnR>
                    <a:lnT w="12700">
                      <a:solidFill>
                        <a:srgbClr val="D4DFEF"/>
                      </a:solidFill>
                    </a:lnT>
                    <a:lnB w="12700">
                      <a:solidFill>
                        <a:srgbClr val="D4DF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/>
          <p:nvPr/>
        </p:nvGraphicFramePr>
        <p:xfrm>
          <a:off x="571550" y="4708043"/>
          <a:ext cx="6457160" cy="626767"/>
        </p:xfrm>
        <a:graphic>
          <a:graphicData uri="http://schemas.openxmlformats.org/drawingml/2006/table">
            <a:tbl>
              <a:tblPr/>
              <a:tblGrid>
                <a:gridCol w="1843862"/>
                <a:gridCol w="4613299"/>
              </a:tblGrid>
              <a:tr h="626767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学校／学院</a:t>
                      </a:r>
                      <a:endParaRPr lang="zh-CN" sz="2300"/>
                    </a:p>
                  </a:txBody>
                  <a:tcPr marL="123444" marR="2286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FFD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00"/>
                    </a:p>
                  </a:txBody>
                  <a:tcPr marL="123444" marR="22860" marT="22860" marB="22860" anchor="ctr">
                    <a:lnL w="12700">
                      <a:solidFill>
                        <a:srgbClr val="D4DFEF"/>
                      </a:solidFill>
                    </a:lnL>
                    <a:lnR w="12700">
                      <a:solidFill>
                        <a:srgbClr val="D4DFEF"/>
                      </a:solidFill>
                    </a:lnR>
                    <a:lnT w="12700">
                      <a:solidFill>
                        <a:srgbClr val="D4DFEF"/>
                      </a:solidFill>
                    </a:lnT>
                    <a:lnB w="12700">
                      <a:solidFill>
                        <a:srgbClr val="D4DF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/>
          <p:nvPr/>
        </p:nvGraphicFramePr>
        <p:xfrm>
          <a:off x="571550" y="5517010"/>
          <a:ext cx="6457160" cy="626767"/>
        </p:xfrm>
        <a:graphic>
          <a:graphicData uri="http://schemas.openxmlformats.org/drawingml/2006/table">
            <a:tbl>
              <a:tblPr/>
              <a:tblGrid>
                <a:gridCol w="1843862"/>
                <a:gridCol w="4613299"/>
              </a:tblGrid>
              <a:tr h="626767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答辩日期</a:t>
                      </a:r>
                      <a:endParaRPr lang="zh-CN" sz="2300"/>
                    </a:p>
                  </a:txBody>
                  <a:tcPr marL="123444" marR="2286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FFD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00"/>
                    </a:p>
                  </a:txBody>
                  <a:tcPr marL="123444" marR="22860" marT="22860" marB="22860" anchor="ctr">
                    <a:lnL w="12700">
                      <a:solidFill>
                        <a:srgbClr val="D4DFEF"/>
                      </a:solidFill>
                    </a:lnL>
                    <a:lnR w="12700">
                      <a:solidFill>
                        <a:srgbClr val="D4DFEF"/>
                      </a:solidFill>
                    </a:lnR>
                    <a:lnT w="12700">
                      <a:solidFill>
                        <a:srgbClr val="D4DFEF"/>
                      </a:solidFill>
                    </a:lnT>
                    <a:lnB w="12700">
                      <a:solidFill>
                        <a:srgbClr val="D4DF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71550" y="1195231"/>
            <a:ext cx="8818470" cy="11369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40" b="1">
                <a:solidFill>
                  <a:srgbClr val="00378D"/>
                </a:solidFill>
                <a:latin typeface="Noto Sans CJK SC"/>
                <a:ea typeface="Noto Sans CJK SC"/>
                <a:cs typeface="Noto Sans CJK SC"/>
              </a:rPr>
              <a:t>国家奖学金申请答辩</a:t>
            </a:r>
            <a:endParaRPr lang="zh-CN" sz="7640"/>
          </a:p>
        </p:txBody>
      </p:sp>
      <p:sp>
        <p:nvSpPr>
          <p:cNvPr id="8" name="TextBox 8"/>
          <p:cNvSpPr txBox="1"/>
          <p:nvPr/>
        </p:nvSpPr>
        <p:spPr>
          <a:xfrm>
            <a:off x="571550" y="2732997"/>
            <a:ext cx="3862635" cy="5465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79" b="1">
                <a:solidFill>
                  <a:srgbClr val="00378D"/>
                </a:solidFill>
                <a:latin typeface="Noto Sans CJK SC"/>
                <a:ea typeface="Noto Sans CJK SC"/>
                <a:cs typeface="Noto Sans CJK SC"/>
              </a:rPr>
              <a:t>工科研究生三年级</a:t>
            </a:r>
            <a:endParaRPr lang="zh-CN" sz="367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32863"/>
            <a:ext cx="11638922" cy="0"/>
          </a:xfrm>
          <a:prstGeom prst="line">
            <a:avLst/>
          </a:prstGeom>
          <a:noFill/>
          <a:ln w="21590">
            <a:solidFill>
              <a:srgbClr val="032FA0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282245" y="1224383"/>
            <a:ext cx="3483660" cy="5079730"/>
          </a:xfrm>
          <a:prstGeom prst="rect">
            <a:avLst/>
          </a:prstGeom>
          <a:noFill/>
          <a:ln w="10795">
            <a:solidFill>
              <a:srgbClr val="CBD8E6"/>
            </a:solidFill>
          </a:ln>
        </p:spPr>
        <p:txBody>
          <a:bodyPr/>
          <a:lstStyle/>
          <a:p/>
        </p:txBody>
      </p:sp>
      <p:graphicFrame>
        <p:nvGraphicFramePr>
          <p:cNvPr id="4" name="Table 4"/>
          <p:cNvGraphicFramePr/>
          <p:nvPr/>
        </p:nvGraphicFramePr>
        <p:xfrm>
          <a:off x="447654" y="1231671"/>
          <a:ext cx="7681543" cy="1034895"/>
        </p:xfrm>
        <a:graphic>
          <a:graphicData uri="http://schemas.openxmlformats.org/drawingml/2006/table">
            <a:tbl>
              <a:tblPr/>
              <a:tblGrid>
                <a:gridCol w="1858438"/>
                <a:gridCol w="5823105"/>
              </a:tblGrid>
              <a:tr h="103489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姓名</a:t>
                      </a:r>
                      <a:endParaRPr lang="zh-CN" sz="2520"/>
                    </a:p>
                  </a:txBody>
                  <a:tcPr marL="182880" marR="914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520"/>
                    </a:p>
                  </a:txBody>
                  <a:tcPr marL="182880" marR="9144" marT="0" marB="0" anchor="ctr">
                    <a:lnL w="10795">
                      <a:solidFill>
                        <a:srgbClr val="CBD8E6"/>
                      </a:solidFill>
                    </a:lnL>
                    <a:lnR w="10795">
                      <a:solidFill>
                        <a:srgbClr val="CBD8E6"/>
                      </a:solidFill>
                    </a:lnR>
                    <a:lnT w="10795">
                      <a:solidFill>
                        <a:srgbClr val="CBD8E6"/>
                      </a:solidFill>
                    </a:lnT>
                    <a:lnB w="10795">
                      <a:solidFill>
                        <a:srgbClr val="CBD8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/>
          <p:nvPr/>
        </p:nvGraphicFramePr>
        <p:xfrm>
          <a:off x="447654" y="2550797"/>
          <a:ext cx="7681543" cy="1034895"/>
        </p:xfrm>
        <a:graphic>
          <a:graphicData uri="http://schemas.openxmlformats.org/drawingml/2006/table">
            <a:tbl>
              <a:tblPr/>
              <a:tblGrid>
                <a:gridCol w="1858438"/>
                <a:gridCol w="5823105"/>
              </a:tblGrid>
              <a:tr h="103489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 / 学院</a:t>
                      </a:r>
                      <a:endParaRPr lang="zh-CN" sz="2520"/>
                    </a:p>
                  </a:txBody>
                  <a:tcPr marL="182880" marR="914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520"/>
                    </a:p>
                  </a:txBody>
                  <a:tcPr marL="182880" marR="9144" marT="0" marB="0" anchor="ctr">
                    <a:lnL w="10795">
                      <a:solidFill>
                        <a:srgbClr val="CBD8E6"/>
                      </a:solidFill>
                    </a:lnL>
                    <a:lnR w="10795">
                      <a:solidFill>
                        <a:srgbClr val="CBD8E6"/>
                      </a:solidFill>
                    </a:lnR>
                    <a:lnT w="10795">
                      <a:solidFill>
                        <a:srgbClr val="CBD8E6"/>
                      </a:solidFill>
                    </a:lnT>
                    <a:lnB w="10795">
                      <a:solidFill>
                        <a:srgbClr val="CBD8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/>
          <p:nvPr/>
        </p:nvGraphicFramePr>
        <p:xfrm>
          <a:off x="447654" y="3906363"/>
          <a:ext cx="7681543" cy="1049471"/>
        </p:xfrm>
        <a:graphic>
          <a:graphicData uri="http://schemas.openxmlformats.org/drawingml/2006/table">
            <a:tbl>
              <a:tblPr/>
              <a:tblGrid>
                <a:gridCol w="1858438"/>
                <a:gridCol w="5823105"/>
              </a:tblGrid>
              <a:tr h="1049471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专业</a:t>
                      </a:r>
                      <a:endParaRPr lang="zh-CN" sz="2520"/>
                    </a:p>
                  </a:txBody>
                  <a:tcPr marL="182880" marR="914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520"/>
                    </a:p>
                  </a:txBody>
                  <a:tcPr marL="182880" marR="9144" marT="0" marB="0" anchor="ctr">
                    <a:lnL w="10795">
                      <a:solidFill>
                        <a:srgbClr val="CBD8E6"/>
                      </a:solidFill>
                    </a:lnL>
                    <a:lnR w="10795">
                      <a:solidFill>
                        <a:srgbClr val="CBD8E6"/>
                      </a:solidFill>
                    </a:lnR>
                    <a:lnT w="10795">
                      <a:solidFill>
                        <a:srgbClr val="CBD8E6"/>
                      </a:solidFill>
                    </a:lnT>
                    <a:lnB w="10795">
                      <a:solidFill>
                        <a:srgbClr val="CBD8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/>
          <p:nvPr/>
        </p:nvGraphicFramePr>
        <p:xfrm>
          <a:off x="447654" y="5261930"/>
          <a:ext cx="7681543" cy="1034895"/>
        </p:xfrm>
        <a:graphic>
          <a:graphicData uri="http://schemas.openxmlformats.org/drawingml/2006/table">
            <a:tbl>
              <a:tblPr/>
              <a:tblGrid>
                <a:gridCol w="1858438"/>
                <a:gridCol w="5823105"/>
              </a:tblGrid>
              <a:tr h="103489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导师</a:t>
                      </a:r>
                      <a:endParaRPr lang="zh-CN" sz="2520"/>
                    </a:p>
                  </a:txBody>
                  <a:tcPr marL="182880" marR="914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520" b="1">
                          <a:solidFill>
                            <a:srgbClr val="002F8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520"/>
                    </a:p>
                  </a:txBody>
                  <a:tcPr marL="182880" marR="9144" marT="0" marB="0" anchor="ctr">
                    <a:lnL w="10795">
                      <a:solidFill>
                        <a:srgbClr val="CBD8E6"/>
                      </a:solidFill>
                    </a:lnL>
                    <a:lnR w="10795">
                      <a:solidFill>
                        <a:srgbClr val="CBD8E6"/>
                      </a:solidFill>
                    </a:lnR>
                    <a:lnT w="10795">
                      <a:solidFill>
                        <a:srgbClr val="CBD8E6"/>
                      </a:solidFill>
                    </a:lnT>
                    <a:lnB w="10795">
                      <a:solidFill>
                        <a:srgbClr val="CBD8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54942" y="138472"/>
            <a:ext cx="2390461" cy="721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60" b="1">
                <a:solidFill>
                  <a:srgbClr val="03358F"/>
                </a:solidFill>
                <a:latin typeface="Noto Sans CJK SC"/>
                <a:ea typeface="Noto Sans CJK SC"/>
                <a:cs typeface="Noto Sans CJK SC"/>
              </a:rPr>
              <a:t>个人介绍</a:t>
            </a:r>
            <a:endParaRPr lang="zh-CN" sz="44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280030" y="936507"/>
            <a:ext cx="11638922" cy="0"/>
          </a:xfrm>
          <a:prstGeom prst="line">
            <a:avLst/>
          </a:prstGeom>
          <a:noFill/>
          <a:ln w="17780">
            <a:solidFill>
              <a:srgbClr val="00349D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54" y="1202519"/>
            <a:ext cx="5473282" cy="437279"/>
          </a:xfrm>
          <a:prstGeom prst="rect">
            <a:avLst/>
          </a:prstGeom>
          <a:solidFill>
            <a:srgbClr val="E7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47654" y="1712678"/>
            <a:ext cx="5473282" cy="1617934"/>
          </a:xfrm>
          <a:prstGeom prst="rect">
            <a:avLst/>
          </a:prstGeom>
          <a:noFill/>
          <a:ln w="8255">
            <a:solidFill>
              <a:srgbClr val="CDDBEF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190591" y="1202519"/>
            <a:ext cx="5560738" cy="437279"/>
          </a:xfrm>
          <a:prstGeom prst="rect">
            <a:avLst/>
          </a:prstGeom>
          <a:solidFill>
            <a:srgbClr val="E7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190591" y="1712678"/>
            <a:ext cx="5560738" cy="1617934"/>
          </a:xfrm>
          <a:prstGeom prst="rect">
            <a:avLst/>
          </a:prstGeom>
          <a:noFill/>
          <a:ln w="8255">
            <a:solidFill>
              <a:srgbClr val="CDDBEF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447654" y="3520100"/>
            <a:ext cx="11303675" cy="437279"/>
          </a:xfrm>
          <a:prstGeom prst="rect">
            <a:avLst/>
          </a:prstGeom>
          <a:solidFill>
            <a:srgbClr val="E7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47654" y="4030259"/>
            <a:ext cx="11303675" cy="830831"/>
          </a:xfrm>
          <a:prstGeom prst="rect">
            <a:avLst/>
          </a:prstGeom>
          <a:noFill/>
          <a:ln w="8255">
            <a:solidFill>
              <a:srgbClr val="CDDBEF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447654" y="5065154"/>
            <a:ext cx="11303675" cy="437279"/>
          </a:xfrm>
          <a:prstGeom prst="rect">
            <a:avLst/>
          </a:prstGeom>
          <a:solidFill>
            <a:srgbClr val="E7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47654" y="5575313"/>
            <a:ext cx="11303675" cy="1005743"/>
          </a:xfrm>
          <a:prstGeom prst="rect">
            <a:avLst/>
          </a:prstGeom>
          <a:noFill/>
          <a:ln w="8255">
            <a:solidFill>
              <a:srgbClr val="CDDBEF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47654" y="1202519"/>
            <a:ext cx="72880" cy="437279"/>
          </a:xfrm>
          <a:prstGeom prst="rect">
            <a:avLst/>
          </a:prstGeom>
          <a:solidFill>
            <a:srgbClr val="002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190591" y="1202519"/>
            <a:ext cx="72880" cy="437279"/>
          </a:xfrm>
          <a:prstGeom prst="rect">
            <a:avLst/>
          </a:prstGeom>
          <a:solidFill>
            <a:srgbClr val="002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47654" y="3520100"/>
            <a:ext cx="72880" cy="437279"/>
          </a:xfrm>
          <a:prstGeom prst="rect">
            <a:avLst/>
          </a:prstGeom>
          <a:solidFill>
            <a:srgbClr val="002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47654" y="5065154"/>
            <a:ext cx="72880" cy="437279"/>
          </a:xfrm>
          <a:prstGeom prst="rect">
            <a:avLst/>
          </a:prstGeom>
          <a:solidFill>
            <a:srgbClr val="002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91382" y="123896"/>
            <a:ext cx="5065154" cy="7360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320" b="1">
                <a:solidFill>
                  <a:srgbClr val="002F91"/>
                </a:solidFill>
                <a:latin typeface="Noto Sans CJK SC"/>
                <a:ea typeface="Noto Sans CJK SC"/>
                <a:cs typeface="Noto Sans CJK SC"/>
              </a:rPr>
              <a:t>学业表现与研究方向</a:t>
            </a:r>
            <a:endParaRPr lang="zh-CN" sz="4320"/>
          </a:p>
        </p:txBody>
      </p:sp>
      <p:sp>
        <p:nvSpPr>
          <p:cNvPr id="17" name="TextBox 17"/>
          <p:cNvSpPr txBox="1"/>
          <p:nvPr/>
        </p:nvSpPr>
        <p:spPr>
          <a:xfrm>
            <a:off x="578838" y="1224383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02F91"/>
                </a:solidFill>
                <a:latin typeface="Noto Sans CJK SC"/>
                <a:ea typeface="Noto Sans CJK SC"/>
                <a:cs typeface="Noto Sans CJK SC"/>
              </a:rPr>
              <a:t>课程成绩</a:t>
            </a:r>
            <a:endParaRPr lang="zh-CN" sz="2250"/>
          </a:p>
        </p:txBody>
      </p:sp>
      <p:sp>
        <p:nvSpPr>
          <p:cNvPr id="18" name="TextBox 18"/>
          <p:cNvSpPr txBox="1"/>
          <p:nvPr/>
        </p:nvSpPr>
        <p:spPr>
          <a:xfrm>
            <a:off x="6321775" y="1224383"/>
            <a:ext cx="1275399" cy="42999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02F91"/>
                </a:solidFill>
                <a:latin typeface="Noto Sans CJK SC"/>
                <a:ea typeface="Noto Sans CJK SC"/>
                <a:cs typeface="Noto Sans CJK SC"/>
              </a:rPr>
              <a:t>综合排名</a:t>
            </a:r>
            <a:endParaRPr lang="zh-CN" sz="2250"/>
          </a:p>
        </p:txBody>
      </p:sp>
      <p:sp>
        <p:nvSpPr>
          <p:cNvPr id="19" name="TextBox 19"/>
          <p:cNvSpPr txBox="1"/>
          <p:nvPr/>
        </p:nvSpPr>
        <p:spPr>
          <a:xfrm>
            <a:off x="578838" y="3541964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02F91"/>
                </a:solidFill>
                <a:latin typeface="Noto Sans CJK SC"/>
                <a:ea typeface="Noto Sans CJK SC"/>
                <a:cs typeface="Noto Sans CJK SC"/>
              </a:rPr>
              <a:t>研究方向</a:t>
            </a:r>
            <a:endParaRPr lang="zh-CN" sz="2250"/>
          </a:p>
        </p:txBody>
      </p:sp>
      <p:sp>
        <p:nvSpPr>
          <p:cNvPr id="20" name="TextBox 20"/>
          <p:cNvSpPr txBox="1"/>
          <p:nvPr/>
        </p:nvSpPr>
        <p:spPr>
          <a:xfrm>
            <a:off x="578838" y="5087018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02F91"/>
                </a:solidFill>
                <a:latin typeface="Noto Sans CJK SC"/>
                <a:ea typeface="Noto Sans CJK SC"/>
                <a:cs typeface="Noto Sans CJK SC"/>
              </a:rPr>
              <a:t>工程问题</a:t>
            </a:r>
            <a:endParaRPr lang="zh-CN" sz="2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40151"/>
            <a:ext cx="11638922" cy="0"/>
          </a:xfrm>
          <a:prstGeom prst="line">
            <a:avLst/>
          </a:prstGeom>
          <a:noFill/>
          <a:ln w="16510">
            <a:solidFill>
              <a:srgbClr val="003A99"/>
            </a:solidFill>
          </a:ln>
        </p:spPr>
        <p:txBody>
          <a:bodyPr/>
          <a:lstStyle/>
          <a:p/>
        </p:txBody>
      </p:sp>
      <p:graphicFrame>
        <p:nvGraphicFramePr>
          <p:cNvPr id="3" name="Table 3"/>
          <p:cNvGraphicFramePr/>
          <p:nvPr/>
        </p:nvGraphicFramePr>
        <p:xfrm>
          <a:off x="367486" y="1231671"/>
          <a:ext cx="11464011" cy="5050578"/>
        </p:xfrm>
        <a:graphic>
          <a:graphicData uri="http://schemas.openxmlformats.org/drawingml/2006/table">
            <a:tbl>
              <a:tblPr/>
              <a:tblGrid>
                <a:gridCol w="2361309"/>
                <a:gridCol w="2886045"/>
                <a:gridCol w="3337900"/>
                <a:gridCol w="2878757"/>
              </a:tblGrid>
              <a:tr h="765239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成果类别</a:t>
                      </a:r>
                      <a:endParaRPr lang="zh-CN" sz="2350"/>
                    </a:p>
                  </a:txBody>
                  <a:tcPr marL="18288" marR="18288" marT="18288" marB="18288" anchor="ctr">
                    <a:lnL w="7620">
                      <a:solidFill>
                        <a:srgbClr val="E2EAF5"/>
                      </a:solidFill>
                    </a:lnL>
                    <a:lnR w="7620">
                      <a:solidFill>
                        <a:srgbClr val="E2EAF5"/>
                      </a:solidFill>
                    </a:lnR>
                    <a:lnT w="7620">
                      <a:solidFill>
                        <a:srgbClr val="E2EAF5"/>
                      </a:solidFill>
                    </a:lnT>
                    <a:lnB w="7620">
                      <a:solidFill>
                        <a:srgbClr val="E2EAF5"/>
                      </a:solidFill>
                    </a:lnB>
                    <a:solidFill>
                      <a:srgbClr val="003A99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  <a:endParaRPr lang="zh-CN" sz="2350"/>
                    </a:p>
                  </a:txBody>
                  <a:tcPr marL="18288" marR="18288" marT="18288" marB="18288" anchor="ctr">
                    <a:lnL w="7620">
                      <a:solidFill>
                        <a:srgbClr val="E2EAF5"/>
                      </a:solidFill>
                    </a:lnL>
                    <a:lnR w="7620">
                      <a:solidFill>
                        <a:srgbClr val="E2EAF5"/>
                      </a:solidFill>
                    </a:lnR>
                    <a:lnT w="7620">
                      <a:solidFill>
                        <a:srgbClr val="E2EAF5"/>
                      </a:solidFill>
                    </a:lnT>
                    <a:lnB w="7620">
                      <a:solidFill>
                        <a:srgbClr val="E2EAF5"/>
                      </a:solidFill>
                    </a:lnB>
                    <a:solidFill>
                      <a:srgbClr val="003A99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 / 级别</a:t>
                      </a:r>
                      <a:endParaRPr lang="zh-CN" sz="2350"/>
                    </a:p>
                  </a:txBody>
                  <a:tcPr marL="18288" marR="18288" marT="18288" marB="18288" anchor="ctr">
                    <a:lnL w="7620">
                      <a:solidFill>
                        <a:srgbClr val="E2EAF5"/>
                      </a:solidFill>
                    </a:lnL>
                    <a:lnR w="7620">
                      <a:solidFill>
                        <a:srgbClr val="E2EAF5"/>
                      </a:solidFill>
                    </a:lnR>
                    <a:lnT w="7620">
                      <a:solidFill>
                        <a:srgbClr val="E2EAF5"/>
                      </a:solidFill>
                    </a:lnT>
                    <a:lnB w="7620">
                      <a:solidFill>
                        <a:srgbClr val="E2EAF5"/>
                      </a:solidFill>
                    </a:lnB>
                    <a:solidFill>
                      <a:srgbClr val="003A99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本人角色</a:t>
                      </a:r>
                      <a:endParaRPr lang="zh-CN" sz="2350"/>
                    </a:p>
                  </a:txBody>
                  <a:tcPr marL="18288" marR="18288" marT="18288" marB="18288" anchor="ctr">
                    <a:lnL w="7620">
                      <a:solidFill>
                        <a:srgbClr val="E2EAF5"/>
                      </a:solidFill>
                    </a:lnL>
                    <a:lnR w="7620">
                      <a:solidFill>
                        <a:srgbClr val="E2EAF5"/>
                      </a:solidFill>
                    </a:lnR>
                    <a:lnT w="7620">
                      <a:solidFill>
                        <a:srgbClr val="E2EAF5"/>
                      </a:solidFill>
                    </a:lnT>
                    <a:lnB w="7620">
                      <a:solidFill>
                        <a:srgbClr val="E2EAF5"/>
                      </a:solidFill>
                    </a:lnB>
                    <a:solidFill>
                      <a:srgbClr val="003A99"/>
                    </a:solidFill>
                  </a:tcPr>
                </a:tc>
              </a:tr>
              <a:tr h="107133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学术论文</a:t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E6F1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133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专利 / 软著</a:t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E6F1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133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科研项目</a:t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E6F1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133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竞赛荣誉</a:t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E6F1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350" b="1">
                          <a:solidFill>
                            <a:srgbClr val="003A9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50"/>
                    </a:p>
                  </a:txBody>
                  <a:tcPr marL="18288" marR="18288" marT="18288" marB="18288" anchor="ctr">
                    <a:lnL w="10160">
                      <a:solidFill>
                        <a:srgbClr val="C7D8ED"/>
                      </a:solidFill>
                    </a:lnL>
                    <a:lnR w="10160">
                      <a:solidFill>
                        <a:srgbClr val="C7D8ED"/>
                      </a:solidFill>
                    </a:lnR>
                    <a:lnT w="10160">
                      <a:solidFill>
                        <a:srgbClr val="C7D8ED"/>
                      </a:solidFill>
                    </a:lnT>
                    <a:lnB w="10160">
                      <a:solidFill>
                        <a:srgbClr val="C7D8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469518" y="204064"/>
            <a:ext cx="2332157" cy="66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00" b="1">
                <a:solidFill>
                  <a:srgbClr val="003A91"/>
                </a:solidFill>
                <a:latin typeface="Noto Sans CJK SC"/>
                <a:ea typeface="Noto Sans CJK SC"/>
                <a:cs typeface="Noto Sans CJK SC"/>
              </a:rPr>
              <a:t>成果总览</a:t>
            </a:r>
            <a:endParaRPr lang="zh-CN" sz="4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32863"/>
            <a:ext cx="11638922" cy="0"/>
          </a:xfrm>
          <a:prstGeom prst="line">
            <a:avLst/>
          </a:prstGeom>
          <a:noFill/>
          <a:ln w="21590">
            <a:solidFill>
              <a:srgbClr val="002EA1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116604" y="1202519"/>
            <a:ext cx="9627437" cy="597615"/>
          </a:xfrm>
          <a:prstGeom prst="rect">
            <a:avLst/>
          </a:prstGeom>
          <a:noFill/>
          <a:ln w="10160">
            <a:solidFill>
              <a:srgbClr val="D0DCE8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54" y="1202519"/>
            <a:ext cx="1668950" cy="604903"/>
          </a:xfrm>
          <a:prstGeom prst="rect">
            <a:avLst/>
          </a:prstGeom>
          <a:solidFill>
            <a:srgbClr val="E7F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47654" y="2018774"/>
            <a:ext cx="5407690" cy="408128"/>
          </a:xfrm>
          <a:prstGeom prst="rect">
            <a:avLst/>
          </a:prstGeom>
          <a:solidFill>
            <a:srgbClr val="E7F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447654" y="2018774"/>
            <a:ext cx="65592" cy="408128"/>
          </a:xfrm>
          <a:prstGeom prst="rect">
            <a:avLst/>
          </a:prstGeom>
          <a:solidFill>
            <a:srgbClr val="00277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454942" y="2507069"/>
            <a:ext cx="5393114" cy="1333702"/>
          </a:xfrm>
          <a:prstGeom prst="rect">
            <a:avLst/>
          </a:prstGeom>
          <a:noFill/>
          <a:ln w="10160">
            <a:solidFill>
              <a:srgbClr val="D0DCE8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154152" y="2018774"/>
            <a:ext cx="5589889" cy="408128"/>
          </a:xfrm>
          <a:prstGeom prst="rect">
            <a:avLst/>
          </a:prstGeom>
          <a:solidFill>
            <a:srgbClr val="E7F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154152" y="2018774"/>
            <a:ext cx="72880" cy="408128"/>
          </a:xfrm>
          <a:prstGeom prst="rect">
            <a:avLst/>
          </a:prstGeom>
          <a:solidFill>
            <a:srgbClr val="0027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154152" y="2507069"/>
            <a:ext cx="5589889" cy="3243156"/>
          </a:xfrm>
          <a:prstGeom prst="rect">
            <a:avLst/>
          </a:prstGeom>
          <a:noFill/>
          <a:ln w="10160">
            <a:solidFill>
              <a:srgbClr val="D0DCE8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47654" y="4015683"/>
            <a:ext cx="5407690" cy="408128"/>
          </a:xfrm>
          <a:prstGeom prst="rect">
            <a:avLst/>
          </a:prstGeom>
          <a:solidFill>
            <a:srgbClr val="E7F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47654" y="4015683"/>
            <a:ext cx="65592" cy="408128"/>
          </a:xfrm>
          <a:prstGeom prst="rect">
            <a:avLst/>
          </a:prstGeom>
          <a:solidFill>
            <a:srgbClr val="00277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54942" y="4503979"/>
            <a:ext cx="5393114" cy="1246247"/>
          </a:xfrm>
          <a:prstGeom prst="rect">
            <a:avLst/>
          </a:prstGeom>
          <a:noFill/>
          <a:ln w="10160">
            <a:solidFill>
              <a:srgbClr val="D0DCE8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080164" y="5976153"/>
            <a:ext cx="9663877" cy="590327"/>
          </a:xfrm>
          <a:prstGeom prst="rect">
            <a:avLst/>
          </a:prstGeom>
          <a:noFill/>
          <a:ln w="10160">
            <a:solidFill>
              <a:srgbClr val="D0DCE8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47654" y="5976153"/>
            <a:ext cx="1632510" cy="590327"/>
          </a:xfrm>
          <a:prstGeom prst="rect">
            <a:avLst/>
          </a:prstGeom>
          <a:solidFill>
            <a:srgbClr val="E7F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47654" y="145760"/>
            <a:ext cx="4008395" cy="750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代表性科研成果</a:t>
            </a:r>
            <a:endParaRPr lang="zh-CN" sz="4400"/>
          </a:p>
        </p:txBody>
      </p:sp>
      <p:sp>
        <p:nvSpPr>
          <p:cNvPr id="17" name="TextBox 17"/>
          <p:cNvSpPr txBox="1"/>
          <p:nvPr/>
        </p:nvSpPr>
        <p:spPr>
          <a:xfrm>
            <a:off x="535110" y="1282687"/>
            <a:ext cx="1370142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成果名称</a:t>
            </a:r>
            <a:endParaRPr lang="zh-CN" sz="2300"/>
          </a:p>
        </p:txBody>
      </p:sp>
      <p:sp>
        <p:nvSpPr>
          <p:cNvPr id="18" name="TextBox 18"/>
          <p:cNvSpPr txBox="1"/>
          <p:nvPr/>
        </p:nvSpPr>
        <p:spPr>
          <a:xfrm>
            <a:off x="644430" y="2040638"/>
            <a:ext cx="131183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2100"/>
          </a:p>
        </p:txBody>
      </p:sp>
      <p:sp>
        <p:nvSpPr>
          <p:cNvPr id="19" name="TextBox 19"/>
          <p:cNvSpPr txBox="1"/>
          <p:nvPr/>
        </p:nvSpPr>
        <p:spPr>
          <a:xfrm>
            <a:off x="6365503" y="2040638"/>
            <a:ext cx="138471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关键结果</a:t>
            </a:r>
            <a:endParaRPr lang="zh-CN" sz="2100"/>
          </a:p>
        </p:txBody>
      </p:sp>
      <p:sp>
        <p:nvSpPr>
          <p:cNvPr id="20" name="TextBox 20"/>
          <p:cNvSpPr txBox="1"/>
          <p:nvPr/>
        </p:nvSpPr>
        <p:spPr>
          <a:xfrm>
            <a:off x="644430" y="4030259"/>
            <a:ext cx="131183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本人贡献</a:t>
            </a:r>
            <a:endParaRPr lang="zh-CN" sz="2100"/>
          </a:p>
        </p:txBody>
      </p:sp>
      <p:sp>
        <p:nvSpPr>
          <p:cNvPr id="21" name="TextBox 21"/>
          <p:cNvSpPr txBox="1"/>
          <p:nvPr/>
        </p:nvSpPr>
        <p:spPr>
          <a:xfrm>
            <a:off x="542398" y="6056321"/>
            <a:ext cx="131183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02E81"/>
                </a:solidFill>
                <a:latin typeface="Noto Sans CJK SC"/>
                <a:ea typeface="Noto Sans CJK SC"/>
                <a:cs typeface="Noto Sans CJK SC"/>
              </a:rPr>
              <a:t>发表信息</a:t>
            </a:r>
            <a:endParaRPr lang="zh-CN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32863"/>
            <a:ext cx="11646210" cy="0"/>
          </a:xfrm>
          <a:prstGeom prst="line">
            <a:avLst/>
          </a:prstGeom>
          <a:noFill/>
          <a:ln w="17780">
            <a:solidFill>
              <a:srgbClr val="00358F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47654" y="1202519"/>
            <a:ext cx="1661662" cy="597615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109316" y="1202519"/>
            <a:ext cx="9642013" cy="597615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47654" y="2026062"/>
            <a:ext cx="5786665" cy="4416523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431095" y="2026062"/>
            <a:ext cx="5320234" cy="40084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431095" y="2026062"/>
            <a:ext cx="65592" cy="400840"/>
          </a:xfrm>
          <a:prstGeom prst="rect">
            <a:avLst/>
          </a:prstGeom>
          <a:solidFill>
            <a:srgbClr val="0035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431095" y="2507069"/>
            <a:ext cx="5320234" cy="1617934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431095" y="4299915"/>
            <a:ext cx="5320234" cy="400840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431095" y="4299915"/>
            <a:ext cx="65592" cy="400840"/>
          </a:xfrm>
          <a:prstGeom prst="rect">
            <a:avLst/>
          </a:prstGeom>
          <a:solidFill>
            <a:srgbClr val="0035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431095" y="4788210"/>
            <a:ext cx="5320234" cy="1639798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69518" y="204064"/>
            <a:ext cx="5247354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14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工程实践与应用验证</a:t>
            </a:r>
            <a:endParaRPr lang="zh-CN" sz="4140"/>
          </a:p>
        </p:txBody>
      </p:sp>
      <p:sp>
        <p:nvSpPr>
          <p:cNvPr id="13" name="TextBox 13"/>
          <p:cNvSpPr txBox="1"/>
          <p:nvPr/>
        </p:nvSpPr>
        <p:spPr>
          <a:xfrm>
            <a:off x="549686" y="1282687"/>
            <a:ext cx="1355566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项目名称</a:t>
            </a:r>
            <a:endParaRPr lang="zh-CN" sz="2300"/>
          </a:p>
        </p:txBody>
      </p:sp>
      <p:sp>
        <p:nvSpPr>
          <p:cNvPr id="14" name="TextBox 14"/>
          <p:cNvSpPr txBox="1"/>
          <p:nvPr/>
        </p:nvSpPr>
        <p:spPr>
          <a:xfrm>
            <a:off x="6569567" y="2040638"/>
            <a:ext cx="1209807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承担任务</a:t>
            </a:r>
            <a:endParaRPr lang="zh-CN" sz="2100"/>
          </a:p>
        </p:txBody>
      </p:sp>
      <p:sp>
        <p:nvSpPr>
          <p:cNvPr id="15" name="TextBox 15"/>
          <p:cNvSpPr txBox="1"/>
          <p:nvPr/>
        </p:nvSpPr>
        <p:spPr>
          <a:xfrm>
            <a:off x="6554991" y="4314491"/>
            <a:ext cx="1224383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endParaRPr lang="zh-CN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40151"/>
            <a:ext cx="11638922" cy="0"/>
          </a:xfrm>
          <a:prstGeom prst="line">
            <a:avLst/>
          </a:prstGeom>
          <a:noFill/>
          <a:ln w="17780">
            <a:solidFill>
              <a:srgbClr val="00358F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47654" y="1202519"/>
            <a:ext cx="11303675" cy="466431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54" y="1202519"/>
            <a:ext cx="65592" cy="466431"/>
          </a:xfrm>
          <a:prstGeom prst="rect">
            <a:avLst/>
          </a:prstGeom>
          <a:solidFill>
            <a:srgbClr val="0035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54942" y="1763694"/>
            <a:ext cx="5546162" cy="378976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183303" y="1763694"/>
            <a:ext cx="5568026" cy="378976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454942" y="2244701"/>
            <a:ext cx="5538874" cy="1523190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190591" y="2244701"/>
            <a:ext cx="5553450" cy="1523190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47654" y="4015683"/>
            <a:ext cx="11303675" cy="459143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447654" y="4015683"/>
            <a:ext cx="65592" cy="459143"/>
          </a:xfrm>
          <a:prstGeom prst="rect">
            <a:avLst/>
          </a:prstGeom>
          <a:solidFill>
            <a:srgbClr val="0035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54942" y="4576859"/>
            <a:ext cx="11296387" cy="378976"/>
          </a:xfrm>
          <a:prstGeom prst="rect">
            <a:avLst/>
          </a:prstGeom>
          <a:solidFill>
            <a:srgbClr val="E5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54942" y="5050578"/>
            <a:ext cx="11296387" cy="1530478"/>
          </a:xfrm>
          <a:prstGeom prst="rect">
            <a:avLst/>
          </a:prstGeom>
          <a:noFill/>
          <a:ln w="10160">
            <a:solidFill>
              <a:srgbClr val="C6D7ED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54942" y="204064"/>
            <a:ext cx="5181762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14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竞赛荣誉与集体贡献</a:t>
            </a:r>
            <a:endParaRPr lang="zh-CN" sz="4140"/>
          </a:p>
        </p:txBody>
      </p:sp>
      <p:sp>
        <p:nvSpPr>
          <p:cNvPr id="14" name="TextBox 14"/>
          <p:cNvSpPr txBox="1"/>
          <p:nvPr/>
        </p:nvSpPr>
        <p:spPr>
          <a:xfrm>
            <a:off x="659006" y="1238959"/>
            <a:ext cx="1326414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4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竞赛荣誉</a:t>
            </a:r>
            <a:endParaRPr lang="zh-CN" sz="2340"/>
          </a:p>
        </p:txBody>
      </p:sp>
      <p:sp>
        <p:nvSpPr>
          <p:cNvPr id="15" name="TextBox 15"/>
          <p:cNvSpPr txBox="1"/>
          <p:nvPr/>
        </p:nvSpPr>
        <p:spPr>
          <a:xfrm>
            <a:off x="571550" y="1778270"/>
            <a:ext cx="1370142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奖项与时间</a:t>
            </a:r>
            <a:endParaRPr lang="zh-CN" sz="1950"/>
          </a:p>
        </p:txBody>
      </p:sp>
      <p:sp>
        <p:nvSpPr>
          <p:cNvPr id="16" name="TextBox 16"/>
          <p:cNvSpPr txBox="1"/>
          <p:nvPr/>
        </p:nvSpPr>
        <p:spPr>
          <a:xfrm>
            <a:off x="6285335" y="1778270"/>
            <a:ext cx="1136927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本人贡献</a:t>
            </a:r>
            <a:endParaRPr lang="zh-CN" sz="1950"/>
          </a:p>
        </p:txBody>
      </p:sp>
      <p:sp>
        <p:nvSpPr>
          <p:cNvPr id="17" name="TextBox 17"/>
          <p:cNvSpPr txBox="1"/>
          <p:nvPr/>
        </p:nvSpPr>
        <p:spPr>
          <a:xfrm>
            <a:off x="659006" y="4052123"/>
            <a:ext cx="1326414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4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集体工作</a:t>
            </a:r>
            <a:endParaRPr lang="zh-CN" sz="2340"/>
          </a:p>
        </p:txBody>
      </p:sp>
      <p:sp>
        <p:nvSpPr>
          <p:cNvPr id="18" name="TextBox 18"/>
          <p:cNvSpPr txBox="1"/>
          <p:nvPr/>
        </p:nvSpPr>
        <p:spPr>
          <a:xfrm>
            <a:off x="578838" y="4598723"/>
            <a:ext cx="112235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00358F"/>
                </a:solidFill>
                <a:latin typeface="Noto Sans CJK SC"/>
                <a:ea typeface="Noto Sans CJK SC"/>
                <a:cs typeface="Noto Sans CJK SC"/>
              </a:rPr>
              <a:t>具体职责</a:t>
            </a:r>
            <a:endParaRPr lang="zh-CN" sz="1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47654" y="2018774"/>
            <a:ext cx="5407690" cy="408128"/>
          </a:xfrm>
          <a:prstGeom prst="rect">
            <a:avLst/>
          </a:prstGeom>
          <a:solidFill>
            <a:srgbClr val="E6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54" y="2507069"/>
            <a:ext cx="5407690" cy="1625222"/>
          </a:xfrm>
          <a:prstGeom prst="rect">
            <a:avLst/>
          </a:prstGeom>
          <a:solidFill>
            <a:srgbClr val="FEFEFE"/>
          </a:solidFill>
          <a:ln w="10160">
            <a:solidFill>
              <a:srgbClr val="D2DFEF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154152" y="2018774"/>
            <a:ext cx="5597177" cy="408128"/>
          </a:xfrm>
          <a:prstGeom prst="rect">
            <a:avLst/>
          </a:prstGeom>
          <a:solidFill>
            <a:srgbClr val="E6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154152" y="2507069"/>
            <a:ext cx="5597177" cy="1625222"/>
          </a:xfrm>
          <a:prstGeom prst="rect">
            <a:avLst/>
          </a:prstGeom>
          <a:solidFill>
            <a:srgbClr val="FEFEFE"/>
          </a:solidFill>
          <a:ln w="10160">
            <a:solidFill>
              <a:srgbClr val="D2DFEF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447654" y="4329067"/>
            <a:ext cx="5407690" cy="408128"/>
          </a:xfrm>
          <a:prstGeom prst="rect">
            <a:avLst/>
          </a:prstGeom>
          <a:solidFill>
            <a:srgbClr val="E6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447654" y="4817362"/>
            <a:ext cx="5407690" cy="1617934"/>
          </a:xfrm>
          <a:prstGeom prst="rect">
            <a:avLst/>
          </a:prstGeom>
          <a:solidFill>
            <a:srgbClr val="FEFEFE"/>
          </a:solidFill>
          <a:ln w="10160">
            <a:solidFill>
              <a:srgbClr val="D2DFEF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154152" y="4329067"/>
            <a:ext cx="5597177" cy="408128"/>
          </a:xfrm>
          <a:prstGeom prst="rect">
            <a:avLst/>
          </a:prstGeom>
          <a:solidFill>
            <a:srgbClr val="E6F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154152" y="4817362"/>
            <a:ext cx="5597177" cy="1617934"/>
          </a:xfrm>
          <a:prstGeom prst="rect">
            <a:avLst/>
          </a:prstGeom>
          <a:solidFill>
            <a:srgbClr val="FEFEFE"/>
          </a:solidFill>
          <a:ln w="10160">
            <a:solidFill>
              <a:srgbClr val="D2DFEF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280030" y="932863"/>
            <a:ext cx="11638922" cy="0"/>
          </a:xfrm>
          <a:prstGeom prst="line">
            <a:avLst/>
          </a:prstGeom>
          <a:noFill/>
          <a:ln w="20955">
            <a:solidFill>
              <a:srgbClr val="003BA7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47654" y="2018774"/>
            <a:ext cx="65592" cy="408128"/>
          </a:xfrm>
          <a:prstGeom prst="rect">
            <a:avLst/>
          </a:prstGeom>
          <a:solidFill>
            <a:srgbClr val="003B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154152" y="2018774"/>
            <a:ext cx="65592" cy="408128"/>
          </a:xfrm>
          <a:prstGeom prst="rect">
            <a:avLst/>
          </a:prstGeom>
          <a:solidFill>
            <a:srgbClr val="003B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47654" y="4329067"/>
            <a:ext cx="65592" cy="408128"/>
          </a:xfrm>
          <a:prstGeom prst="rect">
            <a:avLst/>
          </a:prstGeom>
          <a:solidFill>
            <a:srgbClr val="003BA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154152" y="4329067"/>
            <a:ext cx="65592" cy="408128"/>
          </a:xfrm>
          <a:prstGeom prst="rect">
            <a:avLst/>
          </a:prstGeom>
          <a:solidFill>
            <a:srgbClr val="003BA7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6" name="Table 16"/>
          <p:cNvGraphicFramePr/>
          <p:nvPr/>
        </p:nvGraphicFramePr>
        <p:xfrm>
          <a:off x="447654" y="1202519"/>
          <a:ext cx="11303675" cy="597615"/>
        </p:xfrm>
        <a:graphic>
          <a:graphicData uri="http://schemas.openxmlformats.org/drawingml/2006/table">
            <a:tbl>
              <a:tblPr/>
              <a:tblGrid>
                <a:gridCol w="1668950"/>
                <a:gridCol w="9634725"/>
              </a:tblGrid>
              <a:tr h="59761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88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当前课题</a:t>
                      </a:r>
                      <a:endParaRPr lang="zh-CN" sz="2300"/>
                    </a:p>
                  </a:txBody>
                  <a:tcPr marL="178308" marR="45720" marT="18288" marB="0" anchor="ctr">
                    <a:lnL w="10160">
                      <a:solidFill>
                        <a:srgbClr val="D2DFEF"/>
                      </a:solidFill>
                    </a:lnL>
                    <a:lnR w="10160">
                      <a:solidFill>
                        <a:srgbClr val="D2DFEF"/>
                      </a:solidFill>
                    </a:lnR>
                    <a:lnT w="10160">
                      <a:solidFill>
                        <a:srgbClr val="D2DFEF"/>
                      </a:solidFill>
                    </a:lnT>
                    <a:lnB w="10160">
                      <a:solidFill>
                        <a:srgbClr val="D2DFEF"/>
                      </a:solidFill>
                    </a:lnB>
                    <a:solidFill>
                      <a:srgbClr val="E6F1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300" b="1">
                          <a:solidFill>
                            <a:srgbClr val="00388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300"/>
                    </a:p>
                  </a:txBody>
                  <a:tcPr marL="178308" marR="45720" marT="18288" marB="0" anchor="ctr">
                    <a:lnL w="10160">
                      <a:solidFill>
                        <a:srgbClr val="D2DFEF"/>
                      </a:solidFill>
                    </a:lnL>
                    <a:lnR w="10160">
                      <a:solidFill>
                        <a:srgbClr val="D2DFEF"/>
                      </a:solidFill>
                    </a:lnR>
                    <a:lnT w="10160">
                      <a:solidFill>
                        <a:srgbClr val="D2DFEF"/>
                      </a:solidFill>
                    </a:lnT>
                    <a:lnB w="10160">
                      <a:solidFill>
                        <a:srgbClr val="D2DFEF"/>
                      </a:solidFill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498670" y="131184"/>
            <a:ext cx="5028714" cy="8016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00" b="1">
                <a:solidFill>
                  <a:srgbClr val="00388F"/>
                </a:solidFill>
                <a:latin typeface="Noto Sans CJK SC"/>
                <a:ea typeface="Noto Sans CJK SC"/>
                <a:cs typeface="Noto Sans CJK SC"/>
              </a:rPr>
              <a:t>目前工作与阶段进展</a:t>
            </a:r>
            <a:endParaRPr lang="zh-CN" sz="4300"/>
          </a:p>
        </p:txBody>
      </p:sp>
      <p:sp>
        <p:nvSpPr>
          <p:cNvPr id="18" name="TextBox 18"/>
          <p:cNvSpPr txBox="1"/>
          <p:nvPr/>
        </p:nvSpPr>
        <p:spPr>
          <a:xfrm>
            <a:off x="637142" y="2047926"/>
            <a:ext cx="117336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388F"/>
                </a:solidFill>
                <a:latin typeface="Noto Sans CJK SC"/>
                <a:ea typeface="Noto Sans CJK SC"/>
                <a:cs typeface="Noto Sans CJK SC"/>
              </a:rPr>
              <a:t>研究目标</a:t>
            </a:r>
            <a:endParaRPr lang="zh-CN" sz="2100"/>
          </a:p>
        </p:txBody>
      </p:sp>
      <p:sp>
        <p:nvSpPr>
          <p:cNvPr id="19" name="TextBox 19"/>
          <p:cNvSpPr txBox="1"/>
          <p:nvPr/>
        </p:nvSpPr>
        <p:spPr>
          <a:xfrm>
            <a:off x="6336351" y="2047926"/>
            <a:ext cx="94743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388F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  <a:endParaRPr lang="zh-CN" sz="2100"/>
          </a:p>
        </p:txBody>
      </p:sp>
      <p:sp>
        <p:nvSpPr>
          <p:cNvPr id="20" name="TextBox 20"/>
          <p:cNvSpPr txBox="1"/>
          <p:nvPr/>
        </p:nvSpPr>
        <p:spPr>
          <a:xfrm>
            <a:off x="637142" y="4358219"/>
            <a:ext cx="117336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388F"/>
                </a:solidFill>
                <a:latin typeface="Noto Sans CJK SC"/>
                <a:ea typeface="Noto Sans CJK SC"/>
                <a:cs typeface="Noto Sans CJK SC"/>
              </a:rPr>
              <a:t>正在推进</a:t>
            </a:r>
            <a:endParaRPr lang="zh-CN" sz="2100"/>
          </a:p>
        </p:txBody>
      </p:sp>
      <p:sp>
        <p:nvSpPr>
          <p:cNvPr id="21" name="TextBox 21"/>
          <p:cNvSpPr txBox="1"/>
          <p:nvPr/>
        </p:nvSpPr>
        <p:spPr>
          <a:xfrm>
            <a:off x="6336351" y="4358219"/>
            <a:ext cx="94743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00388F"/>
                </a:solidFill>
                <a:latin typeface="Noto Sans CJK SC"/>
                <a:ea typeface="Noto Sans CJK SC"/>
                <a:cs typeface="Noto Sans CJK SC"/>
              </a:rPr>
              <a:t>待解决</a:t>
            </a:r>
            <a:endParaRPr lang="zh-CN"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80030" y="932863"/>
            <a:ext cx="11631634" cy="0"/>
          </a:xfrm>
          <a:prstGeom prst="line">
            <a:avLst/>
          </a:prstGeom>
          <a:noFill/>
          <a:ln w="17780">
            <a:solidFill>
              <a:srgbClr val="00328E"/>
            </a:solidFill>
          </a:ln>
        </p:spPr>
        <p:txBody>
          <a:bodyPr/>
          <a:lstStyle/>
          <a:p/>
        </p:txBody>
      </p:sp>
      <p:graphicFrame>
        <p:nvGraphicFramePr>
          <p:cNvPr id="3" name="Table 3"/>
          <p:cNvGraphicFramePr/>
          <p:nvPr/>
        </p:nvGraphicFramePr>
        <p:xfrm>
          <a:off x="396638" y="1187943"/>
          <a:ext cx="11464011" cy="5057866"/>
        </p:xfrm>
        <a:graphic>
          <a:graphicData uri="http://schemas.openxmlformats.org/drawingml/2006/table">
            <a:tbl>
              <a:tblPr/>
              <a:tblGrid>
                <a:gridCol w="1596070"/>
                <a:gridCol w="6464448"/>
                <a:gridCol w="3403492"/>
              </a:tblGrid>
              <a:tr h="56117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  <a:endParaRPr lang="zh-CN" sz="2250"/>
                    </a:p>
                  </a:txBody>
                  <a:tcPr marL="128016" marR="18288" marT="0" marB="874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  <a:endParaRPr lang="zh-CN" sz="2250"/>
                    </a:p>
                  </a:txBody>
                  <a:tcPr marL="155448" marR="18288" marT="0" marB="874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F"/>
                    </a:solidFill>
                  </a:tcPr>
                </a:tc>
              </a:tr>
              <a:tr h="1566918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补充验证</a:t>
                      </a:r>
                      <a:endParaRPr lang="zh-CN" sz="2250"/>
                    </a:p>
                  </a:txBody>
                  <a:tcPr marL="18288" marR="87456" marT="0" marB="1676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66918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成果整理</a:t>
                      </a:r>
                      <a:endParaRPr lang="zh-CN" sz="2250"/>
                    </a:p>
                  </a:txBody>
                  <a:tcPr marL="18288" marR="87456" marT="0" marB="1749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6285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学位论文</a:t>
                      </a:r>
                      <a:endParaRPr lang="zh-CN" sz="2250"/>
                    </a:p>
                  </a:txBody>
                  <a:tcPr marL="18288" marR="8745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2250" b="1">
                          <a:solidFill>
                            <a:srgbClr val="00328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2250"/>
                    </a:p>
                  </a:txBody>
                  <a:tcPr marL="18288" marR="18288" marT="0" marB="0" anchor="ctr">
                    <a:lnL w="9525">
                      <a:solidFill>
                        <a:srgbClr val="D2DFEE"/>
                      </a:solidFill>
                    </a:lnL>
                    <a:lnR w="9525">
                      <a:solidFill>
                        <a:srgbClr val="D2DFEE"/>
                      </a:solidFill>
                    </a:lnR>
                    <a:lnT w="9525">
                      <a:solidFill>
                        <a:srgbClr val="D2DFEE"/>
                      </a:solidFill>
                    </a:lnT>
                    <a:lnB w="9525">
                      <a:solidFill>
                        <a:srgbClr val="D2DF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 4"/>
          <p:cNvSpPr/>
          <p:nvPr/>
        </p:nvSpPr>
        <p:spPr>
          <a:xfrm>
            <a:off x="1912540" y="1187943"/>
            <a:ext cx="72880" cy="50578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8318685" y="1187943"/>
            <a:ext cx="131184" cy="50578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96638" y="1661662"/>
            <a:ext cx="11464011" cy="80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396638" y="3155700"/>
            <a:ext cx="11464011" cy="15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396638" y="4715330"/>
            <a:ext cx="11464011" cy="160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311397" y="1749118"/>
            <a:ext cx="0" cy="1399294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992708" y="3148412"/>
            <a:ext cx="6318689" cy="0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457157" y="3148412"/>
            <a:ext cx="3403492" cy="0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8311397" y="3316036"/>
            <a:ext cx="0" cy="1392006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992708" y="4708043"/>
            <a:ext cx="6318689" cy="0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8457157" y="4708043"/>
            <a:ext cx="3403492" cy="0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8311397" y="4882954"/>
            <a:ext cx="0" cy="1362854"/>
          </a:xfrm>
          <a:prstGeom prst="line">
            <a:avLst/>
          </a:prstGeom>
          <a:noFill/>
          <a:ln w="9525">
            <a:solidFill>
              <a:srgbClr val="D2DFEE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33078" y="94744"/>
            <a:ext cx="4810074" cy="8454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50" b="1">
                <a:solidFill>
                  <a:srgbClr val="00328E"/>
                </a:solidFill>
                <a:latin typeface="Microsoft YaHei"/>
                <a:ea typeface="Microsoft YaHei"/>
                <a:cs typeface="Microsoft YaHei"/>
              </a:rPr>
              <a:t>下一阶段工作计划</a:t>
            </a:r>
            <a:endParaRPr lang="zh-CN" sz="4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-free source-preserving pale-blue diagonal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680870" y="3301460"/>
            <a:ext cx="9700317" cy="0"/>
          </a:xfrm>
          <a:prstGeom prst="line">
            <a:avLst/>
          </a:prstGeom>
          <a:noFill/>
          <a:ln w="17145">
            <a:solidFill>
              <a:srgbClr val="00378D"/>
            </a:solidFill>
          </a:ln>
        </p:spPr>
        <p:txBody>
          <a:bodyPr/>
          <a:lstStyle/>
          <a:p/>
        </p:txBody>
      </p:sp>
      <p:graphicFrame>
        <p:nvGraphicFramePr>
          <p:cNvPr id="4" name="Table 4"/>
          <p:cNvGraphicFramePr/>
          <p:nvPr/>
        </p:nvGraphicFramePr>
        <p:xfrm>
          <a:off x="680870" y="4729906"/>
          <a:ext cx="7455615" cy="590327"/>
        </p:xfrm>
        <a:graphic>
          <a:graphicData uri="http://schemas.openxmlformats.org/drawingml/2006/table">
            <a:tbl>
              <a:tblPr/>
              <a:tblGrid>
                <a:gridCol w="1756406"/>
                <a:gridCol w="5699209"/>
              </a:tblGrid>
              <a:tr h="590327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15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姓名</a:t>
                      </a:r>
                      <a:endParaRPr lang="zh-CN" sz="2150"/>
                    </a:p>
                  </a:txBody>
                  <a:tcPr marL="182880" marR="73152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0FD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15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150"/>
                    </a:p>
                  </a:txBody>
                  <a:tcPr marL="182880" marR="73152" marT="45720" marB="45720" anchor="ctr">
                    <a:lnL w="10160">
                      <a:solidFill>
                        <a:srgbClr val="C7D5E8"/>
                      </a:solidFill>
                    </a:lnL>
                    <a:lnR w="10160">
                      <a:solidFill>
                        <a:srgbClr val="C7D5E8"/>
                      </a:solidFill>
                    </a:lnR>
                    <a:lnT w="10160">
                      <a:solidFill>
                        <a:srgbClr val="C7D5E8"/>
                      </a:solidFill>
                    </a:lnT>
                    <a:lnB w="10160">
                      <a:solidFill>
                        <a:srgbClr val="C7D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/>
          <p:nvPr/>
        </p:nvGraphicFramePr>
        <p:xfrm>
          <a:off x="680870" y="5509722"/>
          <a:ext cx="7455615" cy="590327"/>
        </p:xfrm>
        <a:graphic>
          <a:graphicData uri="http://schemas.openxmlformats.org/drawingml/2006/table">
            <a:tbl>
              <a:tblPr/>
              <a:tblGrid>
                <a:gridCol w="1756406"/>
                <a:gridCol w="5699209"/>
              </a:tblGrid>
              <a:tr h="590327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15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 / 学院</a:t>
                      </a:r>
                      <a:endParaRPr lang="zh-CN" sz="2150"/>
                    </a:p>
                  </a:txBody>
                  <a:tcPr marL="182880" marR="73152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0FD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2150" b="1">
                          <a:solidFill>
                            <a:srgbClr val="00378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  <a:endParaRPr lang="zh-CN" sz="2150"/>
                    </a:p>
                  </a:txBody>
                  <a:tcPr marL="182880" marR="73152" marT="45720" marB="45720" anchor="ctr">
                    <a:lnL w="10160">
                      <a:solidFill>
                        <a:srgbClr val="C7D5E8"/>
                      </a:solidFill>
                    </a:lnL>
                    <a:lnR w="10160">
                      <a:solidFill>
                        <a:srgbClr val="C7D5E8"/>
                      </a:solidFill>
                    </a:lnR>
                    <a:lnT w="10160">
                      <a:solidFill>
                        <a:srgbClr val="C7D5E8"/>
                      </a:solidFill>
                    </a:lnT>
                    <a:lnB w="10160">
                      <a:solidFill>
                        <a:srgbClr val="C7D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73582" y="1690814"/>
            <a:ext cx="7579511" cy="14575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60" b="1">
                <a:solidFill>
                  <a:srgbClr val="00378D"/>
                </a:solidFill>
                <a:latin typeface="Noto Sans CJK SC"/>
                <a:ea typeface="Noto Sans CJK SC"/>
                <a:cs typeface="Noto Sans CJK SC"/>
              </a:rPr>
              <a:t>感谢各位老师</a:t>
            </a:r>
            <a:endParaRPr lang="zh-CN" sz="9860"/>
          </a:p>
        </p:txBody>
      </p:sp>
      <p:sp>
        <p:nvSpPr>
          <p:cNvPr id="7" name="TextBox 7"/>
          <p:cNvSpPr txBox="1"/>
          <p:nvPr/>
        </p:nvSpPr>
        <p:spPr>
          <a:xfrm>
            <a:off x="680870" y="3520100"/>
            <a:ext cx="3643996" cy="8016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650" b="1">
                <a:solidFill>
                  <a:srgbClr val="00378D"/>
                </a:solidFill>
                <a:latin typeface="Noto Sans CJK SC"/>
                <a:ea typeface="Noto Sans CJK SC"/>
                <a:cs typeface="Noto Sans CJK SC"/>
              </a:rPr>
              <a:t>恳请批评指正</a:t>
            </a:r>
            <a:endParaRPr lang="zh-CN" sz="4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